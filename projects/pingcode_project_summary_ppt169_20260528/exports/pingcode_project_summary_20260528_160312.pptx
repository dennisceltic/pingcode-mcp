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D4ED8"/>
              </a:gs>
              <a:gs pos="50000">
                <a:srgbClr val="2563EB"/>
              </a:gs>
              <a:gs pos="100000">
                <a:srgbClr val="3B82F6"/>
              </a:gs>
            </a:gsLst>
            <a:lin ang="2700000" scaled="1"/>
          </a:gradFill>
          <a:ln>
            <a:noFill/>
          </a:ln>
        </p:spPr>
      </p:sp>
      <p:sp>
        <p:nvSpPr>
          <p:cNvPr id="3" name="Rectangle 3"/>
          <p:cNvSpPr/>
          <p:nvPr/>
        </p:nvSpPr>
        <p:spPr>
          <a:xfrm>
            <a:off x="0" y="0"/>
            <a:ext cx="12192000" cy="6858000"/>
          </a:xfrm>
          <a:prstGeom prst="rect">
            <a:avLst/>
          </a:prstGeom>
          <a:gradFill>
            <a:gsLst>
              <a:gs pos="0">
                <a:srgbClr val="FFFFFF">
                  <a:alpha val="8000"/>
                </a:srgbClr>
              </a:gs>
              <a:gs pos="100000">
                <a:srgbClr val="FFFFFF">
                  <a:alpha val="0"/>
                </a:srgbClr>
              </a:gs>
            </a:gsLst>
            <a:path path="circle">
              <a:fillToRect l="50000" t="50000" r="50000" b="50000"/>
            </a:path>
          </a:gradFill>
          <a:ln>
            <a:noFill/>
          </a:ln>
        </p:spPr>
      </p:sp>
      <p:sp>
        <p:nvSpPr>
          <p:cNvPr id="4" name="Rectangle 4"/>
          <p:cNvSpPr/>
          <p:nvPr/>
        </p:nvSpPr>
        <p:spPr>
          <a:xfrm>
            <a:off x="4191000" y="2476500"/>
            <a:ext cx="3810000" cy="38100"/>
          </a:xfrm>
          <a:prstGeom prst="roundRect">
            <a:avLst>
              <a:gd name="adj" fmla="val 50000"/>
            </a:avLst>
          </a:prstGeom>
          <a:gradFill>
            <a:gsLst>
              <a:gs pos="0">
                <a:srgbClr val="F59E0B">
                  <a:alpha val="90000"/>
                </a:srgbClr>
              </a:gs>
              <a:gs pos="50000">
                <a:srgbClr val="F59E0B">
                  <a:alpha val="90000"/>
                </a:srgbClr>
              </a:gs>
              <a:gs pos="100000">
                <a:srgbClr val="FBBF24">
                  <a:alpha val="90000"/>
                </a:srgbClr>
              </a:gs>
            </a:gsLst>
            <a:lin ang="0" scaled="1"/>
          </a:gradFill>
          <a:ln>
            <a:noFill/>
          </a:ln>
        </p:spPr>
      </p:sp>
      <p:sp>
        <p:nvSpPr>
          <p:cNvPr id="5" name="TextBox 5"/>
          <p:cNvSpPr txBox="1"/>
          <p:nvPr/>
        </p:nvSpPr>
        <p:spPr>
          <a:xfrm>
            <a:off x="3996223" y="1706880"/>
            <a:ext cx="4199553"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PingCode系统实施</a:t>
            </a:r>
          </a:p>
        </p:txBody>
      </p:sp>
      <p:sp>
        <p:nvSpPr>
          <p:cNvPr id="6" name="TextBox 6"/>
          <p:cNvSpPr txBox="1"/>
          <p:nvPr/>
        </p:nvSpPr>
        <p:spPr>
          <a:xfrm>
            <a:off x="5229225" y="2726055"/>
            <a:ext cx="1733550" cy="426720"/>
          </a:xfrm>
          <a:prstGeom prst="rect">
            <a:avLst/>
          </a:prstGeom>
          <a:noFill/>
          <a:ln>
            <a:noFill/>
          </a:ln>
        </p:spPr>
        <p:txBody>
          <a:bodyPr wrap="none" lIns="0" tIns="0" rIns="0" bIns="0" anchor="t" anchorCtr="0">
            <a:spAutoFit/>
          </a:bodyPr>
          <a:lstStyle/>
          <a:p>
            <a:pPr algn="ctr"/>
            <a:r>
              <a:rPr lang="zh-CN" sz="2100" dirty="0">
                <a:solidFill>
                  <a:srgbClr val="BFDBFE"/>
                </a:solidFill>
                <a:latin typeface="Arial"/>
                <a:ea typeface="Microsoft YaHei"/>
                <a:cs typeface="Arial"/>
              </a:rPr>
              <a:t>项目总结汇报</a:t>
            </a:r>
          </a:p>
        </p:txBody>
      </p:sp>
      <p:sp>
        <p:nvSpPr>
          <p:cNvPr id="7" name="Rectangle 7"/>
          <p:cNvSpPr/>
          <p:nvPr/>
        </p:nvSpPr>
        <p:spPr>
          <a:xfrm>
            <a:off x="5143500" y="3429000"/>
            <a:ext cx="1905000" cy="19050"/>
          </a:xfrm>
          <a:prstGeom prst="roundRect">
            <a:avLst>
              <a:gd name="adj" fmla="val 50000"/>
            </a:avLst>
          </a:prstGeom>
          <a:solidFill>
            <a:srgbClr val="60A5FA">
              <a:alpha val="40000"/>
            </a:srgbClr>
          </a:solidFill>
          <a:ln>
            <a:noFill/>
          </a:ln>
        </p:spPr>
      </p:sp>
      <p:sp>
        <p:nvSpPr>
          <p:cNvPr id="8" name="TextBox 8"/>
          <p:cNvSpPr txBox="1"/>
          <p:nvPr/>
        </p:nvSpPr>
        <p:spPr>
          <a:xfrm>
            <a:off x="5187744" y="3854768"/>
            <a:ext cx="1816513" cy="274320"/>
          </a:xfrm>
          <a:prstGeom prst="rect">
            <a:avLst/>
          </a:prstGeom>
          <a:noFill/>
          <a:ln>
            <a:noFill/>
          </a:ln>
        </p:spPr>
        <p:txBody>
          <a:bodyPr wrap="none" lIns="0" tIns="0" rIns="0" bIns="0" anchor="t" anchorCtr="0">
            <a:spAutoFit/>
          </a:bodyPr>
          <a:lstStyle/>
          <a:p>
            <a:pPr algn="ctr"/>
            <a:r>
              <a:rPr lang="zh-CN" sz="1350" dirty="0">
                <a:solidFill>
                  <a:srgbClr val="93C5FD"/>
                </a:solidFill>
                <a:latin typeface="Arial"/>
                <a:ea typeface="Microsoft YaHei"/>
                <a:cs typeface="Arial"/>
              </a:rPr>
              <a:t>金溢科技 · 2026年6月</a:t>
            </a:r>
          </a:p>
        </p:txBody>
      </p:sp>
      <p:sp>
        <p:nvSpPr>
          <p:cNvPr id="9" name="Rectangle 9"/>
          <p:cNvSpPr/>
          <p:nvPr/>
        </p:nvSpPr>
        <p:spPr>
          <a:xfrm>
            <a:off x="571500" y="6286500"/>
            <a:ext cx="11049000" cy="9525"/>
          </a:xfrm>
          <a:prstGeom prst="rect">
            <a:avLst/>
          </a:prstGeom>
          <a:solidFill>
            <a:srgbClr val="3B82F6">
              <a:alpha val="30000"/>
            </a:srgbClr>
          </a:solidFill>
          <a:ln>
            <a:noFill/>
          </a:ln>
        </p:spPr>
      </p:sp>
      <p:sp>
        <p:nvSpPr>
          <p:cNvPr id="10" name="TextBox 10"/>
          <p:cNvSpPr txBox="1"/>
          <p:nvPr/>
        </p:nvSpPr>
        <p:spPr>
          <a:xfrm>
            <a:off x="559118" y="6514624"/>
            <a:ext cx="3717226" cy="198120"/>
          </a:xfrm>
          <a:prstGeom prst="rect">
            <a:avLst/>
          </a:prstGeom>
          <a:noFill/>
          <a:ln>
            <a:noFill/>
          </a:ln>
        </p:spPr>
        <p:txBody>
          <a:bodyPr wrap="none" lIns="0" tIns="0" rIns="0" bIns="0" anchor="t" anchorCtr="0">
            <a:spAutoFit/>
          </a:bodyPr>
          <a:lstStyle/>
          <a:p>
            <a:pPr algn="l"/>
            <a:r>
              <a:rPr lang="zh-CN" sz="975" dirty="0">
                <a:solidFill>
                  <a:srgbClr val="60A5FA">
                    <a:alphaMod val="70000"/>
                  </a:srgbClr>
                </a:solidFill>
                <a:latin typeface="Arial"/>
                <a:ea typeface="Microsoft YaHei"/>
                <a:cs typeface="Arial"/>
              </a:rPr>
              <a:t>项目管理员: 小冯 | 项目类型: 瀑布项目 | 标识: PINGCODE-IMPL</a:t>
            </a:r>
          </a:p>
        </p:txBody>
      </p:sp>
      <p:sp>
        <p:nvSpPr>
          <p:cNvPr id="11" name="TextBox 11"/>
          <p:cNvSpPr txBox="1"/>
          <p:nvPr/>
        </p:nvSpPr>
        <p:spPr>
          <a:xfrm>
            <a:off x="11426095" y="6514624"/>
            <a:ext cx="206788" cy="198120"/>
          </a:xfrm>
          <a:prstGeom prst="rect">
            <a:avLst/>
          </a:prstGeom>
          <a:noFill/>
          <a:ln>
            <a:noFill/>
          </a:ln>
        </p:spPr>
        <p:txBody>
          <a:bodyPr wrap="none" lIns="0" tIns="0" rIns="0" bIns="0" anchor="t" anchorCtr="0">
            <a:spAutoFit/>
          </a:bodyPr>
          <a:lstStyle/>
          <a:p>
            <a:pPr algn="r"/>
            <a:r>
              <a:rPr lang="zh-CN" sz="975" dirty="0">
                <a:solidFill>
                  <a:srgbClr val="60A5FA">
                    <a:alphaMod val="70000"/>
                  </a:srgbClr>
                </a:solidFill>
                <a:latin typeface="Arial"/>
                <a:ea typeface="Microsoft YaHei"/>
                <a:cs typeface="Arial"/>
              </a:rPr>
              <a:t>P01</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59118" y="418624"/>
            <a:ext cx="570833" cy="198120"/>
          </a:xfrm>
          <a:prstGeom prst="rect">
            <a:avLst/>
          </a:prstGeom>
          <a:noFill/>
          <a:ln>
            <a:noFill/>
          </a:ln>
        </p:spPr>
        <p:txBody>
          <a:bodyPr wrap="none" lIns="0" tIns="0" rIns="0" bIns="0" anchor="t" anchorCtr="0">
            <a:spAutoFit/>
          </a:bodyPr>
          <a:lstStyle/>
          <a:p>
            <a:pPr algn="l"/>
            <a:r>
              <a:rPr lang="zh-CN" sz="975" b="1" dirty="0">
                <a:solidFill>
                  <a:srgbClr val="2563EB"/>
                </a:solidFill>
                <a:latin typeface="Arial"/>
                <a:ea typeface="Microsoft YaHei"/>
                <a:cs typeface="Arial"/>
              </a:rPr>
              <a:t>项目概述</a:t>
            </a:r>
          </a:p>
        </p:txBody>
      </p:sp>
      <p:sp>
        <p:nvSpPr>
          <p:cNvPr id="5" name="TextBox 5"/>
          <p:cNvSpPr txBox="1"/>
          <p:nvPr/>
        </p:nvSpPr>
        <p:spPr>
          <a:xfrm>
            <a:off x="11393591" y="418624"/>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P02</a:t>
            </a:r>
          </a:p>
        </p:txBody>
      </p:sp>
      <p:sp>
        <p:nvSpPr>
          <p:cNvPr id="6" name="TextBox 6"/>
          <p:cNvSpPr txBox="1"/>
          <p:nvPr/>
        </p:nvSpPr>
        <p:spPr>
          <a:xfrm>
            <a:off x="541020" y="741045"/>
            <a:ext cx="2799702" cy="487680"/>
          </a:xfrm>
          <a:prstGeom prst="rect">
            <a:avLst/>
          </a:prstGeom>
          <a:noFill/>
          <a:ln>
            <a:noFill/>
          </a:ln>
        </p:spPr>
        <p:txBody>
          <a:bodyPr wrap="none" lIns="0" tIns="0" rIns="0" bIns="0" anchor="t" anchorCtr="0">
            <a:spAutoFit/>
          </a:bodyPr>
          <a:lstStyle/>
          <a:p>
            <a:pPr algn="l"/>
            <a:r>
              <a:rPr lang="zh-CN" sz="2400" b="1" dirty="0">
                <a:solidFill>
                  <a:srgbClr val="1E293B"/>
                </a:solidFill>
                <a:latin typeface="Arial"/>
                <a:ea typeface="Microsoft YaHei"/>
                <a:cs typeface="Arial"/>
              </a:rPr>
              <a:t>PingCode系统实施</a:t>
            </a:r>
          </a:p>
        </p:txBody>
      </p:sp>
      <p:sp>
        <p:nvSpPr>
          <p:cNvPr id="7" name="TextBox 7"/>
          <p:cNvSpPr txBox="1"/>
          <p:nvPr/>
        </p:nvSpPr>
        <p:spPr>
          <a:xfrm>
            <a:off x="554355" y="1187768"/>
            <a:ext cx="2734628"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金溢科技研发管理平台部署与上线</a:t>
            </a:r>
          </a:p>
        </p:txBody>
      </p:sp>
      <p:sp>
        <p:nvSpPr>
          <p:cNvPr id="8" name="Rectangle 8"/>
          <p:cNvSpPr/>
          <p:nvPr/>
        </p:nvSpPr>
        <p:spPr>
          <a:xfrm>
            <a:off x="571500" y="1666875"/>
            <a:ext cx="6477000" cy="9525"/>
          </a:xfrm>
          <a:prstGeom prst="rect">
            <a:avLst/>
          </a:prstGeom>
          <a:solidFill>
            <a:srgbClr val="E2E8F0"/>
          </a:solidFill>
          <a:ln>
            <a:noFill/>
          </a:ln>
        </p:spPr>
      </p:sp>
      <p:sp>
        <p:nvSpPr>
          <p:cNvPr id="9" name="TextBox 9"/>
          <p:cNvSpPr txBox="1"/>
          <p:nvPr/>
        </p:nvSpPr>
        <p:spPr>
          <a:xfrm>
            <a:off x="556260" y="1918335"/>
            <a:ext cx="702564"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项目背景</a:t>
            </a:r>
          </a:p>
        </p:txBody>
      </p:sp>
      <p:sp>
        <p:nvSpPr>
          <p:cNvPr id="10" name="TextBox 10"/>
          <p:cNvSpPr txBox="1"/>
          <p:nvPr/>
        </p:nvSpPr>
        <p:spPr>
          <a:xfrm>
            <a:off x="556260" y="2204085"/>
            <a:ext cx="515112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金溢科技需要一套专业的研发管理平台来支撑软件开发全生命周期管理。</a:t>
            </a:r>
          </a:p>
        </p:txBody>
      </p:sp>
      <p:sp>
        <p:nvSpPr>
          <p:cNvPr id="11" name="TextBox 11"/>
          <p:cNvSpPr txBox="1"/>
          <p:nvPr/>
        </p:nvSpPr>
        <p:spPr>
          <a:xfrm>
            <a:off x="556260" y="2442210"/>
            <a:ext cx="618324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PingCode 作为一体化研发管理工具，覆盖项目管理、需求管理、测试管理、知识管理，</a:t>
            </a:r>
          </a:p>
        </p:txBody>
      </p:sp>
      <p:sp>
        <p:nvSpPr>
          <p:cNvPr id="12" name="TextBox 12"/>
          <p:cNvSpPr txBox="1"/>
          <p:nvPr/>
        </p:nvSpPr>
        <p:spPr>
          <a:xfrm>
            <a:off x="556260" y="2680335"/>
            <a:ext cx="339090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能够满足企业从需求到上线的全流程管理需求。</a:t>
            </a:r>
          </a:p>
        </p:txBody>
      </p:sp>
      <p:sp>
        <p:nvSpPr>
          <p:cNvPr id="13" name="TextBox 13"/>
          <p:cNvSpPr txBox="1"/>
          <p:nvPr/>
        </p:nvSpPr>
        <p:spPr>
          <a:xfrm>
            <a:off x="556260" y="3156585"/>
            <a:ext cx="702564"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项目目标</a:t>
            </a:r>
          </a:p>
        </p:txBody>
      </p:sp>
      <p:sp>
        <p:nvSpPr>
          <p:cNvPr id="14" name="TextBox 14"/>
          <p:cNvSpPr txBox="1"/>
          <p:nvPr/>
        </p:nvSpPr>
        <p:spPr>
          <a:xfrm>
            <a:off x="556260" y="3442335"/>
            <a:ext cx="563118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完成系统部署、需求调研、方案输出、系统试点、培训、正式上线与跟踪验收，</a:t>
            </a:r>
          </a:p>
        </p:txBody>
      </p:sp>
      <p:sp>
        <p:nvSpPr>
          <p:cNvPr id="15" name="TextBox 15"/>
          <p:cNvSpPr txBox="1"/>
          <p:nvPr/>
        </p:nvSpPr>
        <p:spPr>
          <a:xfrm>
            <a:off x="556260" y="3680460"/>
            <a:ext cx="415099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确保金溢科技团队顺利使用 PingCode 进行日常研发管理。</a:t>
            </a:r>
          </a:p>
        </p:txBody>
      </p:sp>
      <p:sp>
        <p:nvSpPr>
          <p:cNvPr id="16" name="Rectangle 16"/>
          <p:cNvSpPr/>
          <p:nvPr/>
        </p:nvSpPr>
        <p:spPr>
          <a:xfrm>
            <a:off x="7620000" y="1476375"/>
            <a:ext cx="4000500" cy="1238250"/>
          </a:xfrm>
          <a:prstGeom prst="roundRect">
            <a:avLst>
              <a:gd name="adj" fmla="val 9231"/>
            </a:avLst>
          </a:prstGeom>
          <a:solidFill>
            <a:srgbClr val="FFFFFF"/>
          </a:solidFill>
          <a:ln w="9525">
            <a:solidFill>
              <a:srgbClr val="E2E8F0"/>
            </a:solidFill>
          </a:ln>
          <a:effectLst>
            <a:outerShdw blurRad="76200" dist="19050" dir="5400000" algn="ctr" rotWithShape="0">
              <a:srgbClr val="0F172A">
                <a:alpha val="4500"/>
              </a:srgbClr>
            </a:outerShdw>
          </a:effectLst>
        </p:spPr>
      </p:sp>
      <p:sp>
        <p:nvSpPr>
          <p:cNvPr id="17" name="Rectangle 17"/>
          <p:cNvSpPr/>
          <p:nvPr/>
        </p:nvSpPr>
        <p:spPr>
          <a:xfrm>
            <a:off x="7620000" y="1476375"/>
            <a:ext cx="4000500" cy="47625"/>
          </a:xfrm>
          <a:prstGeom prst="roundRect">
            <a:avLst>
              <a:gd name="adj" fmla="val 40000"/>
            </a:avLst>
          </a:prstGeom>
          <a:gradFill>
            <a:gsLst>
              <a:gs pos="0">
                <a:srgbClr val="2563EB"/>
              </a:gs>
              <a:gs pos="100000">
                <a:srgbClr val="3B82F6"/>
              </a:gs>
            </a:gsLst>
            <a:lin ang="0" scaled="1"/>
          </a:gradFill>
          <a:ln>
            <a:noFill/>
          </a:ln>
        </p:spPr>
      </p:sp>
      <p:sp>
        <p:nvSpPr>
          <p:cNvPr id="18" name="TextBox 18"/>
          <p:cNvSpPr txBox="1"/>
          <p:nvPr/>
        </p:nvSpPr>
        <p:spPr>
          <a:xfrm>
            <a:off x="7987665" y="1791652"/>
            <a:ext cx="58674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项目周期</a:t>
            </a:r>
          </a:p>
        </p:txBody>
      </p:sp>
      <p:sp>
        <p:nvSpPr>
          <p:cNvPr id="19" name="TextBox 19"/>
          <p:cNvSpPr txBox="1"/>
          <p:nvPr/>
        </p:nvSpPr>
        <p:spPr>
          <a:xfrm>
            <a:off x="7966710" y="1994535"/>
            <a:ext cx="3319786" cy="548640"/>
          </a:xfrm>
          <a:prstGeom prst="rect">
            <a:avLst/>
          </a:prstGeom>
          <a:noFill/>
          <a:ln>
            <a:noFill/>
          </a:ln>
        </p:spPr>
        <p:txBody>
          <a:bodyPr wrap="none" lIns="0" tIns="0" rIns="0" bIns="0" anchor="t" anchorCtr="0">
            <a:spAutoFit/>
          </a:bodyPr>
          <a:lstStyle/>
          <a:p>
            <a:pPr algn="l"/>
            <a:r>
              <a:rPr lang="zh-CN" sz="2700" b="1" dirty="0">
                <a:solidFill>
                  <a:srgbClr val="1E293B"/>
                </a:solidFill>
                <a:latin typeface="Arial"/>
                <a:ea typeface="Microsoft YaHei"/>
                <a:cs typeface="Arial"/>
              </a:rPr>
              <a:t>2026.05 — 2026.12</a:t>
            </a:r>
          </a:p>
        </p:txBody>
      </p:sp>
      <p:sp>
        <p:nvSpPr>
          <p:cNvPr id="20" name="TextBox 20"/>
          <p:cNvSpPr txBox="1"/>
          <p:nvPr/>
        </p:nvSpPr>
        <p:spPr>
          <a:xfrm>
            <a:off x="7987665" y="2458402"/>
            <a:ext cx="607743"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约 7 个月</a:t>
            </a:r>
          </a:p>
        </p:txBody>
      </p:sp>
      <p:sp>
        <p:nvSpPr>
          <p:cNvPr id="21" name="Rectangle 21"/>
          <p:cNvSpPr/>
          <p:nvPr/>
        </p:nvSpPr>
        <p:spPr>
          <a:xfrm>
            <a:off x="7620000" y="2905125"/>
            <a:ext cx="1905000" cy="1238250"/>
          </a:xfrm>
          <a:prstGeom prst="roundRect">
            <a:avLst>
              <a:gd name="adj" fmla="val 9231"/>
            </a:avLst>
          </a:prstGeom>
          <a:solidFill>
            <a:srgbClr val="FFFFFF"/>
          </a:solidFill>
          <a:ln w="9525">
            <a:solidFill>
              <a:srgbClr val="E2E8F0"/>
            </a:solidFill>
          </a:ln>
          <a:effectLst>
            <a:outerShdw blurRad="76200" dist="19050" dir="5400000" algn="ctr" rotWithShape="0">
              <a:srgbClr val="0F172A">
                <a:alpha val="4500"/>
              </a:srgbClr>
            </a:outerShdw>
          </a:effectLst>
        </p:spPr>
      </p:sp>
      <p:sp>
        <p:nvSpPr>
          <p:cNvPr id="22" name="Rectangle 22"/>
          <p:cNvSpPr/>
          <p:nvPr/>
        </p:nvSpPr>
        <p:spPr>
          <a:xfrm>
            <a:off x="7620000" y="2905125"/>
            <a:ext cx="57150" cy="1238250"/>
          </a:xfrm>
          <a:prstGeom prst="roundRect">
            <a:avLst>
              <a:gd name="adj" fmla="val 50000"/>
            </a:avLst>
          </a:prstGeom>
          <a:solidFill>
            <a:srgbClr val="2563EB"/>
          </a:solidFill>
          <a:ln>
            <a:noFill/>
          </a:ln>
        </p:spPr>
      </p:sp>
      <p:sp>
        <p:nvSpPr>
          <p:cNvPr id="23" name="TextBox 23"/>
          <p:cNvSpPr txBox="1"/>
          <p:nvPr/>
        </p:nvSpPr>
        <p:spPr>
          <a:xfrm>
            <a:off x="7892415" y="3220402"/>
            <a:ext cx="44672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阶段数</a:t>
            </a:r>
          </a:p>
        </p:txBody>
      </p:sp>
      <p:sp>
        <p:nvSpPr>
          <p:cNvPr id="24" name="TextBox 24"/>
          <p:cNvSpPr txBox="1"/>
          <p:nvPr/>
        </p:nvSpPr>
        <p:spPr>
          <a:xfrm>
            <a:off x="7860030" y="3373755"/>
            <a:ext cx="368675" cy="731520"/>
          </a:xfrm>
          <a:prstGeom prst="rect">
            <a:avLst/>
          </a:prstGeom>
          <a:noFill/>
          <a:ln>
            <a:noFill/>
          </a:ln>
        </p:spPr>
        <p:txBody>
          <a:bodyPr wrap="none" lIns="0" tIns="0" rIns="0" bIns="0" anchor="t" anchorCtr="0">
            <a:spAutoFit/>
          </a:bodyPr>
          <a:lstStyle/>
          <a:p>
            <a:pPr algn="l"/>
            <a:r>
              <a:rPr lang="zh-CN" sz="3600" b="1" dirty="0">
                <a:solidFill>
                  <a:srgbClr val="1E293B"/>
                </a:solidFill>
                <a:latin typeface="Arial"/>
                <a:ea typeface="Microsoft YaHei"/>
                <a:cs typeface="Arial"/>
              </a:rPr>
              <a:t>5</a:t>
            </a:r>
          </a:p>
        </p:txBody>
      </p:sp>
      <p:sp>
        <p:nvSpPr>
          <p:cNvPr id="25" name="Rectangle 25"/>
          <p:cNvSpPr/>
          <p:nvPr/>
        </p:nvSpPr>
        <p:spPr>
          <a:xfrm>
            <a:off x="9715500" y="2905125"/>
            <a:ext cx="1905000" cy="1238250"/>
          </a:xfrm>
          <a:prstGeom prst="roundRect">
            <a:avLst>
              <a:gd name="adj" fmla="val 9231"/>
            </a:avLst>
          </a:prstGeom>
          <a:solidFill>
            <a:srgbClr val="FFFFFF"/>
          </a:solidFill>
          <a:ln w="9525">
            <a:solidFill>
              <a:srgbClr val="E2E8F0"/>
            </a:solidFill>
          </a:ln>
          <a:effectLst>
            <a:outerShdw blurRad="76200" dist="19050" dir="5400000" algn="ctr" rotWithShape="0">
              <a:srgbClr val="0F172A">
                <a:alpha val="4500"/>
              </a:srgbClr>
            </a:outerShdw>
          </a:effectLst>
        </p:spPr>
      </p:sp>
      <p:sp>
        <p:nvSpPr>
          <p:cNvPr id="26" name="Rectangle 26"/>
          <p:cNvSpPr/>
          <p:nvPr/>
        </p:nvSpPr>
        <p:spPr>
          <a:xfrm>
            <a:off x="9715500" y="2905125"/>
            <a:ext cx="57150" cy="1238250"/>
          </a:xfrm>
          <a:prstGeom prst="roundRect">
            <a:avLst>
              <a:gd name="adj" fmla="val 50000"/>
            </a:avLst>
          </a:prstGeom>
          <a:solidFill>
            <a:srgbClr val="F59E0B"/>
          </a:solidFill>
          <a:ln>
            <a:noFill/>
          </a:ln>
        </p:spPr>
      </p:sp>
      <p:sp>
        <p:nvSpPr>
          <p:cNvPr id="27" name="TextBox 27"/>
          <p:cNvSpPr txBox="1"/>
          <p:nvPr/>
        </p:nvSpPr>
        <p:spPr>
          <a:xfrm>
            <a:off x="9987915" y="3220402"/>
            <a:ext cx="58674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任务总数</a:t>
            </a:r>
          </a:p>
        </p:txBody>
      </p:sp>
      <p:sp>
        <p:nvSpPr>
          <p:cNvPr id="28" name="TextBox 28"/>
          <p:cNvSpPr txBox="1"/>
          <p:nvPr/>
        </p:nvSpPr>
        <p:spPr>
          <a:xfrm>
            <a:off x="9955530" y="3373755"/>
            <a:ext cx="519894" cy="731520"/>
          </a:xfrm>
          <a:prstGeom prst="rect">
            <a:avLst/>
          </a:prstGeom>
          <a:noFill/>
          <a:ln>
            <a:noFill/>
          </a:ln>
        </p:spPr>
        <p:txBody>
          <a:bodyPr wrap="none" lIns="0" tIns="0" rIns="0" bIns="0" anchor="t" anchorCtr="0">
            <a:spAutoFit/>
          </a:bodyPr>
          <a:lstStyle/>
          <a:p>
            <a:pPr algn="l"/>
            <a:r>
              <a:rPr lang="zh-CN" sz="3600" b="1" dirty="0">
                <a:solidFill>
                  <a:srgbClr val="1E293B"/>
                </a:solidFill>
                <a:latin typeface="Arial"/>
                <a:ea typeface="Microsoft YaHei"/>
                <a:cs typeface="Arial"/>
              </a:rPr>
              <a:t>19</a:t>
            </a:r>
          </a:p>
        </p:txBody>
      </p:sp>
      <p:sp>
        <p:nvSpPr>
          <p:cNvPr id="29" name="Rectangle 29"/>
          <p:cNvSpPr/>
          <p:nvPr/>
        </p:nvSpPr>
        <p:spPr>
          <a:xfrm>
            <a:off x="7620000" y="4333875"/>
            <a:ext cx="4000500" cy="1047750"/>
          </a:xfrm>
          <a:prstGeom prst="roundRect">
            <a:avLst>
              <a:gd name="adj" fmla="val 10909"/>
            </a:avLst>
          </a:prstGeom>
          <a:solidFill>
            <a:srgbClr val="FFFFFF"/>
          </a:solidFill>
          <a:ln w="9525">
            <a:solidFill>
              <a:srgbClr val="E2E8F0"/>
            </a:solidFill>
          </a:ln>
          <a:effectLst>
            <a:outerShdw blurRad="76200" dist="19050" dir="5400000" algn="ctr" rotWithShape="0">
              <a:srgbClr val="0F172A">
                <a:alpha val="4500"/>
              </a:srgbClr>
            </a:outerShdw>
          </a:effectLst>
        </p:spPr>
      </p:sp>
      <p:sp>
        <p:nvSpPr>
          <p:cNvPr id="30" name="TextBox 30"/>
          <p:cNvSpPr txBox="1"/>
          <p:nvPr/>
        </p:nvSpPr>
        <p:spPr>
          <a:xfrm>
            <a:off x="7987665" y="4649152"/>
            <a:ext cx="58674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角色分工</a:t>
            </a:r>
          </a:p>
        </p:txBody>
      </p:sp>
      <p:sp>
        <p:nvSpPr>
          <p:cNvPr id="31" name="TextBox 31"/>
          <p:cNvSpPr txBox="1"/>
          <p:nvPr/>
        </p:nvSpPr>
        <p:spPr>
          <a:xfrm>
            <a:off x="7987665" y="4915852"/>
            <a:ext cx="2511981" cy="213360"/>
          </a:xfrm>
          <a:prstGeom prst="rect">
            <a:avLst/>
          </a:prstGeom>
          <a:noFill/>
          <a:ln>
            <a:noFill/>
          </a:ln>
        </p:spPr>
        <p:txBody>
          <a:bodyPr wrap="none" lIns="0" tIns="0" rIns="0" bIns="0" anchor="t" anchorCtr="0">
            <a:spAutoFit/>
          </a:bodyPr>
          <a:lstStyle/>
          <a:p>
            <a:pPr algn="l"/>
            <a:r>
              <a:rPr lang="zh-CN" sz="1050" dirty="0">
                <a:solidFill>
                  <a:srgbClr val="1E293B"/>
                </a:solidFill>
                <a:latin typeface="Arial"/>
                <a:ea typeface="Microsoft YaHei"/>
                <a:cs typeface="Arial"/>
              </a:rPr>
              <a:t>乙方 PM — 系统部署、方案、培训、答疑</a:t>
            </a:r>
          </a:p>
        </p:txBody>
      </p:sp>
      <p:sp>
        <p:nvSpPr>
          <p:cNvPr id="32" name="TextBox 32"/>
          <p:cNvSpPr txBox="1"/>
          <p:nvPr/>
        </p:nvSpPr>
        <p:spPr>
          <a:xfrm>
            <a:off x="7987665" y="5125402"/>
            <a:ext cx="2168938" cy="213360"/>
          </a:xfrm>
          <a:prstGeom prst="rect">
            <a:avLst/>
          </a:prstGeom>
          <a:noFill/>
          <a:ln>
            <a:noFill/>
          </a:ln>
        </p:spPr>
        <p:txBody>
          <a:bodyPr wrap="none" lIns="0" tIns="0" rIns="0" bIns="0" anchor="t" anchorCtr="0">
            <a:spAutoFit/>
          </a:bodyPr>
          <a:lstStyle/>
          <a:p>
            <a:pPr algn="l"/>
            <a:r>
              <a:rPr lang="zh-CN" sz="1050" dirty="0">
                <a:solidFill>
                  <a:srgbClr val="1E293B"/>
                </a:solidFill>
                <a:latin typeface="Arial"/>
                <a:ea typeface="Microsoft YaHei"/>
                <a:cs typeface="Arial"/>
              </a:rPr>
              <a:t>甲方 IT — 服务器、网络、域名配置</a:t>
            </a:r>
          </a:p>
        </p:txBody>
      </p:sp>
      <p:sp>
        <p:nvSpPr>
          <p:cNvPr id="33" name="Rectangle 33"/>
          <p:cNvSpPr/>
          <p:nvPr/>
        </p:nvSpPr>
        <p:spPr>
          <a:xfrm>
            <a:off x="571500" y="6286500"/>
            <a:ext cx="11049000" cy="9525"/>
          </a:xfrm>
          <a:prstGeom prst="rect">
            <a:avLst/>
          </a:prstGeom>
          <a:solidFill>
            <a:srgbClr val="E2E8F0"/>
          </a:solidFill>
          <a:ln>
            <a:noFill/>
          </a:ln>
        </p:spPr>
      </p:sp>
      <p:sp>
        <p:nvSpPr>
          <p:cNvPr id="34" name="TextBox 34"/>
          <p:cNvSpPr txBox="1"/>
          <p:nvPr/>
        </p:nvSpPr>
        <p:spPr>
          <a:xfrm>
            <a:off x="559118" y="6514624"/>
            <a:ext cx="2144030"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水瀑布项目管理 · PingCode系统实施</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44830" y="249555"/>
            <a:ext cx="2743776" cy="426720"/>
          </a:xfrm>
          <a:prstGeom prst="rect">
            <a:avLst/>
          </a:prstGeom>
          <a:noFill/>
          <a:ln>
            <a:noFill/>
          </a:ln>
        </p:spPr>
        <p:txBody>
          <a:bodyPr wrap="none" lIns="0" tIns="0" rIns="0" bIns="0" anchor="t" anchorCtr="0">
            <a:spAutoFit/>
          </a:bodyPr>
          <a:lstStyle/>
          <a:p>
            <a:pPr algn="l"/>
            <a:r>
              <a:rPr lang="zh-CN" sz="2100" b="1" dirty="0">
                <a:solidFill>
                  <a:srgbClr val="1E293B"/>
                </a:solidFill>
                <a:latin typeface="Arial"/>
                <a:ea typeface="Microsoft YaHei"/>
                <a:cs typeface="Arial"/>
              </a:rPr>
              <a:t>项目主计划 — 甘特图</a:t>
            </a:r>
          </a:p>
        </p:txBody>
      </p:sp>
      <p:sp>
        <p:nvSpPr>
          <p:cNvPr id="5" name="TextBox 5"/>
          <p:cNvSpPr txBox="1"/>
          <p:nvPr/>
        </p:nvSpPr>
        <p:spPr>
          <a:xfrm>
            <a:off x="557212" y="621506"/>
            <a:ext cx="3231475"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2026年5月 — 2026年12月 · 5个阶段 · 6个里程碑</a:t>
            </a:r>
          </a:p>
        </p:txBody>
      </p:sp>
      <p:sp>
        <p:nvSpPr>
          <p:cNvPr id="6" name="TextBox 6"/>
          <p:cNvSpPr txBox="1"/>
          <p:nvPr/>
        </p:nvSpPr>
        <p:spPr>
          <a:xfrm>
            <a:off x="11393591" y="370999"/>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P03</a:t>
            </a:r>
          </a:p>
        </p:txBody>
      </p:sp>
      <p:sp>
        <p:nvSpPr>
          <p:cNvPr id="7" name="Rectangle 7"/>
          <p:cNvSpPr/>
          <p:nvPr/>
        </p:nvSpPr>
        <p:spPr>
          <a:xfrm>
            <a:off x="2667000" y="904875"/>
            <a:ext cx="9144000" cy="266700"/>
          </a:xfrm>
          <a:prstGeom prst="roundRect">
            <a:avLst>
              <a:gd name="adj" fmla="val 14286"/>
            </a:avLst>
          </a:prstGeom>
          <a:solidFill>
            <a:srgbClr val="F1F5F9"/>
          </a:solidFill>
          <a:ln>
            <a:noFill/>
          </a:ln>
        </p:spPr>
      </p:sp>
      <p:grpSp>
        <p:nvGrpSpPr>
          <p:cNvPr id="16" name="Group 16"/>
          <p:cNvGrpSpPr/>
          <p:nvPr/>
        </p:nvGrpSpPr>
        <p:grpSpPr>
          <a:xfrm>
            <a:off x="3120317" y="980599"/>
            <a:ext cx="8257844" cy="198120"/>
            <a:chOff x="3120317" y="980599"/>
            <a:chExt cx="8257844" cy="198120"/>
          </a:xfrm>
        </p:grpSpPr>
        <p:sp>
          <p:nvSpPr>
            <p:cNvPr id="8" name="TextBox 8"/>
            <p:cNvSpPr txBox="1"/>
            <p:nvPr/>
          </p:nvSpPr>
          <p:spPr>
            <a:xfrm>
              <a:off x="3120317" y="980599"/>
              <a:ext cx="236366"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5月</a:t>
              </a:r>
            </a:p>
          </p:txBody>
        </p:sp>
        <p:sp>
          <p:nvSpPr>
            <p:cNvPr id="9" name="TextBox 9"/>
            <p:cNvSpPr txBox="1"/>
            <p:nvPr/>
          </p:nvSpPr>
          <p:spPr>
            <a:xfrm>
              <a:off x="4263317" y="980599"/>
              <a:ext cx="236366"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6月</a:t>
              </a:r>
            </a:p>
          </p:txBody>
        </p:sp>
        <p:sp>
          <p:nvSpPr>
            <p:cNvPr id="10" name="TextBox 10"/>
            <p:cNvSpPr txBox="1"/>
            <p:nvPr/>
          </p:nvSpPr>
          <p:spPr>
            <a:xfrm>
              <a:off x="5406317" y="980599"/>
              <a:ext cx="236366"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7月</a:t>
              </a:r>
            </a:p>
          </p:txBody>
        </p:sp>
        <p:sp>
          <p:nvSpPr>
            <p:cNvPr id="11" name="TextBox 11"/>
            <p:cNvSpPr txBox="1"/>
            <p:nvPr/>
          </p:nvSpPr>
          <p:spPr>
            <a:xfrm>
              <a:off x="6549317" y="980599"/>
              <a:ext cx="236366"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8月</a:t>
              </a:r>
            </a:p>
          </p:txBody>
        </p:sp>
        <p:sp>
          <p:nvSpPr>
            <p:cNvPr id="12" name="TextBox 12"/>
            <p:cNvSpPr txBox="1"/>
            <p:nvPr/>
          </p:nvSpPr>
          <p:spPr>
            <a:xfrm>
              <a:off x="7692317" y="980599"/>
              <a:ext cx="236366"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9月</a:t>
              </a:r>
            </a:p>
          </p:txBody>
        </p:sp>
        <p:sp>
          <p:nvSpPr>
            <p:cNvPr id="13" name="TextBox 13"/>
            <p:cNvSpPr txBox="1"/>
            <p:nvPr/>
          </p:nvSpPr>
          <p:spPr>
            <a:xfrm>
              <a:off x="8814839" y="980599"/>
              <a:ext cx="277322"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10月</a:t>
              </a:r>
            </a:p>
          </p:txBody>
        </p:sp>
        <p:sp>
          <p:nvSpPr>
            <p:cNvPr id="14" name="TextBox 14"/>
            <p:cNvSpPr txBox="1"/>
            <p:nvPr/>
          </p:nvSpPr>
          <p:spPr>
            <a:xfrm>
              <a:off x="9974904" y="980599"/>
              <a:ext cx="243192"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11月</a:t>
              </a:r>
            </a:p>
          </p:txBody>
        </p:sp>
        <p:sp>
          <p:nvSpPr>
            <p:cNvPr id="15" name="TextBox 15"/>
            <p:cNvSpPr txBox="1"/>
            <p:nvPr/>
          </p:nvSpPr>
          <p:spPr>
            <a:xfrm>
              <a:off x="11100839" y="980599"/>
              <a:ext cx="277322" cy="198120"/>
            </a:xfrm>
            <a:prstGeom prst="rect">
              <a:avLst/>
            </a:prstGeom>
            <a:noFill/>
            <a:ln>
              <a:noFill/>
            </a:ln>
          </p:spPr>
          <p:txBody>
            <a:bodyPr wrap="none" lIns="0" tIns="0" rIns="0" bIns="0" anchor="t" anchorCtr="0">
              <a:spAutoFit/>
            </a:bodyPr>
            <a:lstStyle/>
            <a:p>
              <a:pPr algn="ctr"/>
              <a:r>
                <a:rPr lang="zh-CN" sz="975" b="1" dirty="0">
                  <a:solidFill>
                    <a:srgbClr val="475569"/>
                  </a:solidFill>
                  <a:latin typeface="Arial"/>
                  <a:ea typeface="Microsoft YaHei"/>
                  <a:cs typeface="Arial"/>
                </a:rPr>
                <a:t>12月</a:t>
              </a:r>
            </a:p>
          </p:txBody>
        </p:sp>
      </p:grpSp>
      <p:grpSp>
        <p:nvGrpSpPr>
          <p:cNvPr id="24" name="Group 24"/>
          <p:cNvGrpSpPr/>
          <p:nvPr/>
        </p:nvGrpSpPr>
        <p:grpSpPr>
          <a:xfrm>
            <a:off x="3810000" y="904875"/>
            <a:ext cx="6867525" cy="4953000"/>
            <a:chOff x="3810000" y="904875"/>
            <a:chExt cx="6867525" cy="4953000"/>
          </a:xfrm>
        </p:grpSpPr>
        <p:sp>
          <p:nvSpPr>
            <p:cNvPr id="17" name="Line 17"/>
            <p:cNvSpPr/>
            <p:nvPr/>
          </p:nvSpPr>
          <p:spPr>
            <a:xfrm>
              <a:off x="3810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18" name="Line 18"/>
            <p:cNvSpPr/>
            <p:nvPr/>
          </p:nvSpPr>
          <p:spPr>
            <a:xfrm>
              <a:off x="4953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19" name="Line 19"/>
            <p:cNvSpPr/>
            <p:nvPr/>
          </p:nvSpPr>
          <p:spPr>
            <a:xfrm>
              <a:off x="6096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20" name="Line 20"/>
            <p:cNvSpPr/>
            <p:nvPr/>
          </p:nvSpPr>
          <p:spPr>
            <a:xfrm>
              <a:off x="7239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21" name="Line 21"/>
            <p:cNvSpPr/>
            <p:nvPr/>
          </p:nvSpPr>
          <p:spPr>
            <a:xfrm>
              <a:off x="8382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22" name="Line 22"/>
            <p:cNvSpPr/>
            <p:nvPr/>
          </p:nvSpPr>
          <p:spPr>
            <a:xfrm>
              <a:off x="9525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sp>
          <p:nvSpPr>
            <p:cNvPr id="23" name="Line 23"/>
            <p:cNvSpPr/>
            <p:nvPr/>
          </p:nvSpPr>
          <p:spPr>
            <a:xfrm>
              <a:off x="10668000" y="904875"/>
              <a:ext cx="9525" cy="4953000"/>
            </a:xfrm>
            <a:custGeom>
              <a:avLst/>
              <a:gdLst/>
              <a:ahLst/>
              <a:cxnLst/>
              <a:rect l="l" t="t" r="r" b="b"/>
              <a:pathLst>
                <a:path w="9525" h="4953000">
                  <a:moveTo>
                    <a:pt x="0" y="0"/>
                  </a:moveTo>
                  <a:lnTo>
                    <a:pt x="0" y="4953000"/>
                  </a:lnTo>
                </a:path>
              </a:pathLst>
            </a:custGeom>
            <a:noFill/>
            <a:ln w="9525">
              <a:solidFill>
                <a:srgbClr val="E2E8F0"/>
              </a:solidFill>
            </a:ln>
          </p:spPr>
        </p:sp>
      </p:grpSp>
      <p:sp>
        <p:nvSpPr>
          <p:cNvPr id="25" name="Rectangle 25"/>
          <p:cNvSpPr/>
          <p:nvPr/>
        </p:nvSpPr>
        <p:spPr>
          <a:xfrm>
            <a:off x="381000" y="1285875"/>
            <a:ext cx="2286000" cy="533400"/>
          </a:xfrm>
          <a:prstGeom prst="rect">
            <a:avLst/>
          </a:prstGeom>
          <a:solidFill>
            <a:srgbClr val="F8FAFC"/>
          </a:solidFill>
          <a:ln>
            <a:noFill/>
          </a:ln>
        </p:spPr>
      </p:sp>
      <p:sp>
        <p:nvSpPr>
          <p:cNvPr id="26" name="Rectangle 26"/>
          <p:cNvSpPr/>
          <p:nvPr/>
        </p:nvSpPr>
        <p:spPr>
          <a:xfrm>
            <a:off x="381000" y="1819275"/>
            <a:ext cx="2286000" cy="533400"/>
          </a:xfrm>
          <a:prstGeom prst="rect">
            <a:avLst/>
          </a:prstGeom>
          <a:solidFill>
            <a:srgbClr val="F1F5F9"/>
          </a:solidFill>
          <a:ln>
            <a:noFill/>
          </a:ln>
        </p:spPr>
      </p:sp>
      <p:sp>
        <p:nvSpPr>
          <p:cNvPr id="27" name="Rectangle 27"/>
          <p:cNvSpPr/>
          <p:nvPr/>
        </p:nvSpPr>
        <p:spPr>
          <a:xfrm>
            <a:off x="381000" y="2352675"/>
            <a:ext cx="2286000" cy="533400"/>
          </a:xfrm>
          <a:prstGeom prst="rect">
            <a:avLst/>
          </a:prstGeom>
          <a:solidFill>
            <a:srgbClr val="F8FAFC"/>
          </a:solidFill>
          <a:ln>
            <a:noFill/>
          </a:ln>
        </p:spPr>
      </p:sp>
      <p:sp>
        <p:nvSpPr>
          <p:cNvPr id="28" name="Rectangle 28"/>
          <p:cNvSpPr/>
          <p:nvPr/>
        </p:nvSpPr>
        <p:spPr>
          <a:xfrm>
            <a:off x="381000" y="2886075"/>
            <a:ext cx="2286000" cy="533400"/>
          </a:xfrm>
          <a:prstGeom prst="rect">
            <a:avLst/>
          </a:prstGeom>
          <a:solidFill>
            <a:srgbClr val="F1F5F9"/>
          </a:solidFill>
          <a:ln>
            <a:noFill/>
          </a:ln>
        </p:spPr>
      </p:sp>
      <p:sp>
        <p:nvSpPr>
          <p:cNvPr id="29" name="Rectangle 29"/>
          <p:cNvSpPr/>
          <p:nvPr/>
        </p:nvSpPr>
        <p:spPr>
          <a:xfrm>
            <a:off x="381000" y="3419475"/>
            <a:ext cx="2286000" cy="533400"/>
          </a:xfrm>
          <a:prstGeom prst="rect">
            <a:avLst/>
          </a:prstGeom>
          <a:solidFill>
            <a:srgbClr val="F8FAFC"/>
          </a:solidFill>
          <a:ln>
            <a:noFill/>
          </a:ln>
        </p:spPr>
      </p:sp>
      <p:grpSp>
        <p:nvGrpSpPr>
          <p:cNvPr id="35" name="Group 35"/>
          <p:cNvGrpSpPr/>
          <p:nvPr/>
        </p:nvGrpSpPr>
        <p:grpSpPr>
          <a:xfrm>
            <a:off x="510540" y="1496378"/>
            <a:ext cx="1812943" cy="2346960"/>
            <a:chOff x="510540" y="1496378"/>
            <a:chExt cx="1812943" cy="2346960"/>
          </a:xfrm>
        </p:grpSpPr>
        <p:sp>
          <p:nvSpPr>
            <p:cNvPr id="30" name="TextBox 30"/>
            <p:cNvSpPr txBox="1"/>
            <p:nvPr/>
          </p:nvSpPr>
          <p:spPr>
            <a:xfrm>
              <a:off x="510540" y="1496378"/>
              <a:ext cx="1812943" cy="213360"/>
            </a:xfrm>
            <a:prstGeom prst="rect">
              <a:avLst/>
            </a:prstGeom>
            <a:noFill/>
            <a:ln>
              <a:noFill/>
            </a:ln>
          </p:spPr>
          <p:txBody>
            <a:bodyPr wrap="none" lIns="0" tIns="0" rIns="0" bIns="0" anchor="t" anchorCtr="0">
              <a:spAutoFit/>
            </a:bodyPr>
            <a:lstStyle/>
            <a:p>
              <a:pPr algn="l"/>
              <a:r>
                <a:rPr lang="zh-CN" sz="1050" b="1" dirty="0">
                  <a:solidFill>
                    <a:srgbClr val="1E293B"/>
                  </a:solidFill>
                  <a:latin typeface="Arial"/>
                  <a:ea typeface="Microsoft YaHei"/>
                  <a:cs typeface="Arial"/>
                </a:rPr>
                <a:t>阶段1: 项目准备与系统部署</a:t>
              </a:r>
            </a:p>
          </p:txBody>
        </p:sp>
        <p:sp>
          <p:nvSpPr>
            <p:cNvPr id="31" name="TextBox 31"/>
            <p:cNvSpPr txBox="1"/>
            <p:nvPr/>
          </p:nvSpPr>
          <p:spPr>
            <a:xfrm>
              <a:off x="510540" y="2029778"/>
              <a:ext cx="1114606" cy="213360"/>
            </a:xfrm>
            <a:prstGeom prst="rect">
              <a:avLst/>
            </a:prstGeom>
            <a:noFill/>
            <a:ln>
              <a:noFill/>
            </a:ln>
          </p:spPr>
          <p:txBody>
            <a:bodyPr wrap="none" lIns="0" tIns="0" rIns="0" bIns="0" anchor="t" anchorCtr="0">
              <a:spAutoFit/>
            </a:bodyPr>
            <a:lstStyle/>
            <a:p>
              <a:pPr algn="l"/>
              <a:r>
                <a:rPr lang="zh-CN" sz="1050" b="1" dirty="0">
                  <a:solidFill>
                    <a:srgbClr val="1E293B"/>
                  </a:solidFill>
                  <a:latin typeface="Arial"/>
                  <a:ea typeface="Microsoft YaHei"/>
                  <a:cs typeface="Arial"/>
                </a:rPr>
                <a:t>阶段2: 系统试点</a:t>
              </a:r>
            </a:p>
          </p:txBody>
        </p:sp>
        <p:sp>
          <p:nvSpPr>
            <p:cNvPr id="32" name="TextBox 32"/>
            <p:cNvSpPr txBox="1"/>
            <p:nvPr/>
          </p:nvSpPr>
          <p:spPr>
            <a:xfrm>
              <a:off x="510540" y="2563178"/>
              <a:ext cx="1114606" cy="213360"/>
            </a:xfrm>
            <a:prstGeom prst="rect">
              <a:avLst/>
            </a:prstGeom>
            <a:noFill/>
            <a:ln>
              <a:noFill/>
            </a:ln>
          </p:spPr>
          <p:txBody>
            <a:bodyPr wrap="none" lIns="0" tIns="0" rIns="0" bIns="0" anchor="t" anchorCtr="0">
              <a:spAutoFit/>
            </a:bodyPr>
            <a:lstStyle/>
            <a:p>
              <a:pPr algn="l"/>
              <a:r>
                <a:rPr lang="zh-CN" sz="1050" b="1" dirty="0">
                  <a:solidFill>
                    <a:srgbClr val="1E293B"/>
                  </a:solidFill>
                  <a:latin typeface="Arial"/>
                  <a:ea typeface="Microsoft YaHei"/>
                  <a:cs typeface="Arial"/>
                </a:rPr>
                <a:t>阶段3: 系统上线</a:t>
              </a:r>
            </a:p>
          </p:txBody>
        </p:sp>
        <p:sp>
          <p:nvSpPr>
            <p:cNvPr id="33" name="TextBox 33"/>
            <p:cNvSpPr txBox="1"/>
            <p:nvPr/>
          </p:nvSpPr>
          <p:spPr>
            <a:xfrm>
              <a:off x="510540" y="3096578"/>
              <a:ext cx="1114606" cy="213360"/>
            </a:xfrm>
            <a:prstGeom prst="rect">
              <a:avLst/>
            </a:prstGeom>
            <a:noFill/>
            <a:ln>
              <a:noFill/>
            </a:ln>
          </p:spPr>
          <p:txBody>
            <a:bodyPr wrap="none" lIns="0" tIns="0" rIns="0" bIns="0" anchor="t" anchorCtr="0">
              <a:spAutoFit/>
            </a:bodyPr>
            <a:lstStyle/>
            <a:p>
              <a:pPr algn="l"/>
              <a:r>
                <a:rPr lang="zh-CN" sz="1050" b="1" dirty="0">
                  <a:solidFill>
                    <a:srgbClr val="1E293B"/>
                  </a:solidFill>
                  <a:latin typeface="Arial"/>
                  <a:ea typeface="Microsoft YaHei"/>
                  <a:cs typeface="Arial"/>
                </a:rPr>
                <a:t>阶段4: 上线通知</a:t>
              </a:r>
            </a:p>
          </p:txBody>
        </p:sp>
        <p:sp>
          <p:nvSpPr>
            <p:cNvPr id="34" name="TextBox 34"/>
            <p:cNvSpPr txBox="1"/>
            <p:nvPr/>
          </p:nvSpPr>
          <p:spPr>
            <a:xfrm>
              <a:off x="510540" y="3629978"/>
              <a:ext cx="1114606" cy="213360"/>
            </a:xfrm>
            <a:prstGeom prst="rect">
              <a:avLst/>
            </a:prstGeom>
            <a:noFill/>
            <a:ln>
              <a:noFill/>
            </a:ln>
          </p:spPr>
          <p:txBody>
            <a:bodyPr wrap="none" lIns="0" tIns="0" rIns="0" bIns="0" anchor="t" anchorCtr="0">
              <a:spAutoFit/>
            </a:bodyPr>
            <a:lstStyle/>
            <a:p>
              <a:pPr algn="l"/>
              <a:r>
                <a:rPr lang="zh-CN" sz="1050" b="1" dirty="0">
                  <a:solidFill>
                    <a:srgbClr val="1E293B"/>
                  </a:solidFill>
                  <a:latin typeface="Arial"/>
                  <a:ea typeface="Microsoft YaHei"/>
                  <a:cs typeface="Arial"/>
                </a:rPr>
                <a:t>阶段5: 跟踪验收</a:t>
              </a:r>
            </a:p>
          </p:txBody>
        </p:sp>
      </p:grpSp>
      <p:grpSp>
        <p:nvGrpSpPr>
          <p:cNvPr id="46" name="Group 46"/>
          <p:cNvGrpSpPr/>
          <p:nvPr/>
        </p:nvGrpSpPr>
        <p:grpSpPr>
          <a:xfrm>
            <a:off x="2952750" y="1476375"/>
            <a:ext cx="8534400" cy="2374106"/>
            <a:chOff x="2952750" y="1476375"/>
            <a:chExt cx="8534400" cy="2374106"/>
          </a:xfrm>
          <a:effectLst>
            <a:outerShdw blurRad="38100" dist="9525" dir="5400000" algn="ctr" rotWithShape="0">
              <a:srgbClr val="0F172A">
                <a:alpha val="9000"/>
              </a:srgbClr>
            </a:outerShdw>
          </a:effectLst>
        </p:grpSpPr>
        <p:sp>
          <p:nvSpPr>
            <p:cNvPr id="36" name="Rectangle 36"/>
            <p:cNvSpPr/>
            <p:nvPr/>
          </p:nvSpPr>
          <p:spPr>
            <a:xfrm>
              <a:off x="2952750" y="1476375"/>
              <a:ext cx="742950" cy="228600"/>
            </a:xfrm>
            <a:prstGeom prst="roundRect">
              <a:avLst>
                <a:gd name="adj" fmla="val 16667"/>
              </a:avLst>
            </a:prstGeom>
            <a:gradFill>
              <a:gsLst>
                <a:gs pos="0">
                  <a:srgbClr val="2563EB"/>
                </a:gs>
                <a:gs pos="100000">
                  <a:srgbClr val="3B82F6"/>
                </a:gs>
              </a:gsLst>
              <a:lin ang="0" scaled="1"/>
            </a:gradFill>
            <a:ln>
              <a:noFill/>
            </a:ln>
            <a:effectLst>
              <a:outerShdw blurRad="38100" dist="9525" dir="5400000" algn="ctr" rotWithShape="0">
                <a:srgbClr val="0F172A">
                  <a:alpha val="9000"/>
                </a:srgbClr>
              </a:outerShdw>
            </a:effectLst>
          </p:spPr>
        </p:sp>
        <p:sp>
          <p:nvSpPr>
            <p:cNvPr id="37" name="TextBox 37"/>
            <p:cNvSpPr txBox="1"/>
            <p:nvPr/>
          </p:nvSpPr>
          <p:spPr>
            <a:xfrm>
              <a:off x="3056728" y="1549241"/>
              <a:ext cx="534994" cy="167640"/>
            </a:xfrm>
            <a:prstGeom prst="rect">
              <a:avLst/>
            </a:prstGeom>
            <a:noFill/>
            <a:ln>
              <a:noFill/>
            </a:ln>
            <a:effectLst>
              <a:outerShdw blurRad="38100" dist="9525" dir="5400000" algn="ctr" rotWithShape="0">
                <a:srgbClr val="0F172A">
                  <a:alpha val="900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5/21-6/12</a:t>
              </a:r>
            </a:p>
          </p:txBody>
        </p:sp>
        <p:sp>
          <p:nvSpPr>
            <p:cNvPr id="38" name="Rectangle 38"/>
            <p:cNvSpPr/>
            <p:nvPr/>
          </p:nvSpPr>
          <p:spPr>
            <a:xfrm>
              <a:off x="4076700" y="2009775"/>
              <a:ext cx="352425" cy="228600"/>
            </a:xfrm>
            <a:prstGeom prst="roundRect">
              <a:avLst>
                <a:gd name="adj" fmla="val 16667"/>
              </a:avLst>
            </a:prstGeom>
            <a:gradFill>
              <a:gsLst>
                <a:gs pos="0">
                  <a:srgbClr val="10B981"/>
                </a:gs>
                <a:gs pos="100000">
                  <a:srgbClr val="059669"/>
                </a:gs>
              </a:gsLst>
              <a:lin ang="0" scaled="1"/>
            </a:gradFill>
            <a:ln>
              <a:noFill/>
            </a:ln>
            <a:effectLst>
              <a:outerShdw blurRad="38100" dist="9525" dir="5400000" algn="ctr" rotWithShape="0">
                <a:srgbClr val="0F172A">
                  <a:alpha val="9000"/>
                </a:srgbClr>
              </a:outerShdw>
            </a:effectLst>
          </p:spPr>
        </p:sp>
        <p:sp>
          <p:nvSpPr>
            <p:cNvPr id="39" name="TextBox 39"/>
            <p:cNvSpPr txBox="1"/>
            <p:nvPr/>
          </p:nvSpPr>
          <p:spPr>
            <a:xfrm>
              <a:off x="4029747" y="2082641"/>
              <a:ext cx="436807" cy="167640"/>
            </a:xfrm>
            <a:prstGeom prst="rect">
              <a:avLst/>
            </a:prstGeom>
            <a:noFill/>
            <a:ln>
              <a:noFill/>
            </a:ln>
            <a:effectLst>
              <a:outerShdw blurRad="38100" dist="9525" dir="5400000" algn="ctr" rotWithShape="0">
                <a:srgbClr val="0F172A">
                  <a:alpha val="900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6/15-26</a:t>
              </a:r>
            </a:p>
          </p:txBody>
        </p:sp>
        <p:sp>
          <p:nvSpPr>
            <p:cNvPr id="40" name="Rectangle 40"/>
            <p:cNvSpPr/>
            <p:nvPr/>
          </p:nvSpPr>
          <p:spPr>
            <a:xfrm>
              <a:off x="4219575" y="2543175"/>
              <a:ext cx="285750" cy="228600"/>
            </a:xfrm>
            <a:prstGeom prst="roundRect">
              <a:avLst>
                <a:gd name="adj" fmla="val 16667"/>
              </a:avLst>
            </a:prstGeom>
            <a:gradFill>
              <a:gsLst>
                <a:gs pos="0">
                  <a:srgbClr val="7C3AED"/>
                </a:gs>
                <a:gs pos="100000">
                  <a:srgbClr val="6D28D9"/>
                </a:gs>
              </a:gsLst>
              <a:lin ang="0" scaled="1"/>
            </a:gradFill>
            <a:ln>
              <a:noFill/>
            </a:ln>
            <a:effectLst>
              <a:outerShdw blurRad="38100" dist="9525" dir="5400000" algn="ctr" rotWithShape="0">
                <a:srgbClr val="0F172A">
                  <a:alpha val="9000"/>
                </a:srgbClr>
              </a:outerShdw>
            </a:effectLst>
          </p:spPr>
        </p:sp>
        <p:sp>
          <p:nvSpPr>
            <p:cNvPr id="41" name="TextBox 41"/>
            <p:cNvSpPr txBox="1"/>
            <p:nvPr/>
          </p:nvSpPr>
          <p:spPr>
            <a:xfrm>
              <a:off x="4129607" y="2616041"/>
              <a:ext cx="465686" cy="167640"/>
            </a:xfrm>
            <a:prstGeom prst="rect">
              <a:avLst/>
            </a:prstGeom>
            <a:noFill/>
            <a:ln>
              <a:noFill/>
            </a:ln>
            <a:effectLst>
              <a:outerShdw blurRad="38100" dist="9525" dir="5400000" algn="ctr" rotWithShape="0">
                <a:srgbClr val="0F172A">
                  <a:alpha val="900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6/22-29</a:t>
              </a:r>
            </a:p>
          </p:txBody>
        </p:sp>
        <p:sp>
          <p:nvSpPr>
            <p:cNvPr id="42" name="Rectangle 42"/>
            <p:cNvSpPr/>
            <p:nvPr/>
          </p:nvSpPr>
          <p:spPr>
            <a:xfrm>
              <a:off x="4838700" y="3076575"/>
              <a:ext cx="38100" cy="228600"/>
            </a:xfrm>
            <a:prstGeom prst="roundRect">
              <a:avLst>
                <a:gd name="adj" fmla="val 50000"/>
              </a:avLst>
            </a:prstGeom>
            <a:gradFill>
              <a:gsLst>
                <a:gs pos="0">
                  <a:srgbClr val="F59E0B"/>
                </a:gs>
                <a:gs pos="100000">
                  <a:srgbClr val="D97706"/>
                </a:gs>
              </a:gsLst>
              <a:lin ang="0" scaled="1"/>
            </a:gradFill>
            <a:ln>
              <a:noFill/>
            </a:ln>
            <a:effectLst>
              <a:outerShdw blurRad="38100" dist="9525" dir="5400000" algn="ctr" rotWithShape="0">
                <a:srgbClr val="0F172A">
                  <a:alpha val="9000"/>
                </a:srgbClr>
              </a:outerShdw>
            </a:effectLst>
          </p:spPr>
        </p:sp>
        <p:sp>
          <p:nvSpPr>
            <p:cNvPr id="43" name="TextBox 43"/>
            <p:cNvSpPr txBox="1"/>
            <p:nvPr/>
          </p:nvSpPr>
          <p:spPr>
            <a:xfrm>
              <a:off x="5018722" y="3149441"/>
              <a:ext cx="275087" cy="167640"/>
            </a:xfrm>
            <a:prstGeom prst="rect">
              <a:avLst/>
            </a:prstGeom>
            <a:noFill/>
            <a:ln>
              <a:noFill/>
            </a:ln>
            <a:effectLst>
              <a:outerShdw blurRad="38100" dist="9525" dir="5400000" algn="ctr" rotWithShape="0">
                <a:srgbClr val="0F172A">
                  <a:alpha val="9000"/>
                </a:srgbClr>
              </a:outerShdw>
            </a:effectLst>
          </p:spPr>
          <p:txBody>
            <a:bodyPr wrap="none" lIns="0" tIns="0" rIns="0" bIns="0" anchor="t" anchorCtr="0">
              <a:spAutoFit/>
            </a:bodyPr>
            <a:lstStyle/>
            <a:p>
              <a:pPr algn="l"/>
              <a:r>
                <a:rPr lang="zh-CN" sz="825" b="1" dirty="0">
                  <a:solidFill>
                    <a:srgbClr val="1E293B"/>
                  </a:solidFill>
                  <a:latin typeface="Arial"/>
                  <a:ea typeface="Microsoft YaHei"/>
                  <a:cs typeface="Arial"/>
                </a:rPr>
                <a:t>6/30</a:t>
              </a:r>
            </a:p>
          </p:txBody>
        </p:sp>
        <p:sp>
          <p:nvSpPr>
            <p:cNvPr id="44" name="Rectangle 44"/>
            <p:cNvSpPr/>
            <p:nvPr/>
          </p:nvSpPr>
          <p:spPr>
            <a:xfrm>
              <a:off x="4838700" y="3609975"/>
              <a:ext cx="6648450" cy="228600"/>
            </a:xfrm>
            <a:prstGeom prst="roundRect">
              <a:avLst>
                <a:gd name="adj" fmla="val 16667"/>
              </a:avLst>
            </a:prstGeom>
            <a:gradFill>
              <a:gsLst>
                <a:gs pos="0">
                  <a:srgbClr val="EF4444"/>
                </a:gs>
                <a:gs pos="100000">
                  <a:srgbClr val="DC2626"/>
                </a:gs>
              </a:gsLst>
              <a:lin ang="0" scaled="1"/>
            </a:gradFill>
            <a:ln>
              <a:noFill/>
            </a:ln>
            <a:effectLst>
              <a:outerShdw blurRad="38100" dist="9525" dir="5400000" algn="ctr" rotWithShape="0">
                <a:srgbClr val="0F172A">
                  <a:alpha val="9000"/>
                </a:srgbClr>
              </a:outerShdw>
            </a:effectLst>
          </p:spPr>
        </p:sp>
        <p:sp>
          <p:nvSpPr>
            <p:cNvPr id="45" name="TextBox 45"/>
            <p:cNvSpPr txBox="1"/>
            <p:nvPr/>
          </p:nvSpPr>
          <p:spPr>
            <a:xfrm>
              <a:off x="7482464" y="3682841"/>
              <a:ext cx="1360922" cy="167640"/>
            </a:xfrm>
            <a:prstGeom prst="rect">
              <a:avLst/>
            </a:prstGeom>
            <a:noFill/>
            <a:ln>
              <a:noFill/>
            </a:ln>
            <a:effectLst>
              <a:outerShdw blurRad="38100" dist="9525" dir="5400000" algn="ctr" rotWithShape="0">
                <a:srgbClr val="0F172A">
                  <a:alpha val="900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6/30 — 12/31（持续跟踪）</a:t>
              </a:r>
            </a:p>
          </p:txBody>
        </p:sp>
      </p:grpSp>
      <p:sp>
        <p:nvSpPr>
          <p:cNvPr id="47" name="Polygon 47"/>
          <p:cNvSpPr/>
          <p:nvPr/>
        </p:nvSpPr>
        <p:spPr>
          <a:xfrm>
            <a:off x="3676650" y="17049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F59E0B"/>
          </a:solidFill>
          <a:ln>
            <a:noFill/>
          </a:ln>
        </p:spPr>
      </p:sp>
      <p:sp>
        <p:nvSpPr>
          <p:cNvPr id="48" name="TextBox 48"/>
          <p:cNvSpPr txBox="1"/>
          <p:nvPr/>
        </p:nvSpPr>
        <p:spPr>
          <a:xfrm>
            <a:off x="3471267" y="1585912"/>
            <a:ext cx="544116" cy="152400"/>
          </a:xfrm>
          <a:prstGeom prst="rect">
            <a:avLst/>
          </a:prstGeom>
          <a:noFill/>
          <a:ln>
            <a:noFill/>
          </a:ln>
        </p:spPr>
        <p:txBody>
          <a:bodyPr wrap="none" lIns="0" tIns="0" rIns="0" bIns="0" anchor="t" anchorCtr="0">
            <a:spAutoFit/>
          </a:bodyPr>
          <a:lstStyle/>
          <a:p>
            <a:pPr algn="ctr"/>
            <a:r>
              <a:rPr lang="zh-CN" sz="750" b="1" dirty="0">
                <a:solidFill>
                  <a:srgbClr val="F59E0B"/>
                </a:solidFill>
                <a:latin typeface="Arial"/>
                <a:ea typeface="Microsoft YaHei"/>
                <a:cs typeface="Arial"/>
              </a:rPr>
              <a:t>项目启动会</a:t>
            </a:r>
          </a:p>
        </p:txBody>
      </p:sp>
      <p:sp>
        <p:nvSpPr>
          <p:cNvPr id="49" name="Polygon 49"/>
          <p:cNvSpPr/>
          <p:nvPr/>
        </p:nvSpPr>
        <p:spPr>
          <a:xfrm>
            <a:off x="4362450" y="17049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F59E0B"/>
          </a:solidFill>
          <a:ln>
            <a:noFill/>
          </a:ln>
        </p:spPr>
      </p:sp>
      <p:sp>
        <p:nvSpPr>
          <p:cNvPr id="50" name="TextBox 50"/>
          <p:cNvSpPr txBox="1"/>
          <p:nvPr/>
        </p:nvSpPr>
        <p:spPr>
          <a:xfrm>
            <a:off x="4104561" y="1585912"/>
            <a:ext cx="649129" cy="152400"/>
          </a:xfrm>
          <a:prstGeom prst="rect">
            <a:avLst/>
          </a:prstGeom>
          <a:noFill/>
          <a:ln>
            <a:noFill/>
          </a:ln>
        </p:spPr>
        <p:txBody>
          <a:bodyPr wrap="none" lIns="0" tIns="0" rIns="0" bIns="0" anchor="t" anchorCtr="0">
            <a:spAutoFit/>
          </a:bodyPr>
          <a:lstStyle/>
          <a:p>
            <a:pPr algn="ctr"/>
            <a:r>
              <a:rPr lang="zh-CN" sz="750" b="1" dirty="0">
                <a:solidFill>
                  <a:srgbClr val="F59E0B"/>
                </a:solidFill>
                <a:latin typeface="Arial"/>
                <a:ea typeface="Microsoft YaHei"/>
                <a:cs typeface="Arial"/>
              </a:rPr>
              <a:t>初始配置完成</a:t>
            </a:r>
          </a:p>
        </p:txBody>
      </p:sp>
      <p:sp>
        <p:nvSpPr>
          <p:cNvPr id="51" name="Polygon 51"/>
          <p:cNvSpPr/>
          <p:nvPr/>
        </p:nvSpPr>
        <p:spPr>
          <a:xfrm>
            <a:off x="4724400" y="22383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F59E0B"/>
          </a:solidFill>
          <a:ln>
            <a:noFill/>
          </a:ln>
        </p:spPr>
      </p:sp>
      <p:sp>
        <p:nvSpPr>
          <p:cNvPr id="52" name="TextBox 52"/>
          <p:cNvSpPr txBox="1"/>
          <p:nvPr/>
        </p:nvSpPr>
        <p:spPr>
          <a:xfrm>
            <a:off x="4519017" y="2119312"/>
            <a:ext cx="544116" cy="152400"/>
          </a:xfrm>
          <a:prstGeom prst="rect">
            <a:avLst/>
          </a:prstGeom>
          <a:noFill/>
          <a:ln>
            <a:noFill/>
          </a:ln>
        </p:spPr>
        <p:txBody>
          <a:bodyPr wrap="none" lIns="0" tIns="0" rIns="0" bIns="0" anchor="t" anchorCtr="0">
            <a:spAutoFit/>
          </a:bodyPr>
          <a:lstStyle/>
          <a:p>
            <a:pPr algn="ctr"/>
            <a:r>
              <a:rPr lang="zh-CN" sz="750" b="1" dirty="0">
                <a:solidFill>
                  <a:srgbClr val="F59E0B"/>
                </a:solidFill>
                <a:latin typeface="Arial"/>
                <a:ea typeface="Microsoft YaHei"/>
                <a:cs typeface="Arial"/>
              </a:rPr>
              <a:t>试运行完成</a:t>
            </a:r>
          </a:p>
        </p:txBody>
      </p:sp>
      <p:sp>
        <p:nvSpPr>
          <p:cNvPr id="53" name="Polygon 53"/>
          <p:cNvSpPr/>
          <p:nvPr/>
        </p:nvSpPr>
        <p:spPr>
          <a:xfrm>
            <a:off x="4905375" y="27717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F59E0B"/>
          </a:solidFill>
          <a:ln>
            <a:noFill/>
          </a:ln>
        </p:spPr>
      </p:sp>
      <p:sp>
        <p:nvSpPr>
          <p:cNvPr id="54" name="TextBox 54"/>
          <p:cNvSpPr txBox="1"/>
          <p:nvPr/>
        </p:nvSpPr>
        <p:spPr>
          <a:xfrm>
            <a:off x="4752499" y="2652712"/>
            <a:ext cx="439102" cy="152400"/>
          </a:xfrm>
          <a:prstGeom prst="rect">
            <a:avLst/>
          </a:prstGeom>
          <a:noFill/>
          <a:ln>
            <a:noFill/>
          </a:ln>
        </p:spPr>
        <p:txBody>
          <a:bodyPr wrap="none" lIns="0" tIns="0" rIns="0" bIns="0" anchor="t" anchorCtr="0">
            <a:spAutoFit/>
          </a:bodyPr>
          <a:lstStyle/>
          <a:p>
            <a:pPr algn="ctr"/>
            <a:r>
              <a:rPr lang="zh-CN" sz="750" b="1" dirty="0">
                <a:solidFill>
                  <a:srgbClr val="F59E0B"/>
                </a:solidFill>
                <a:latin typeface="Arial"/>
                <a:ea typeface="Microsoft YaHei"/>
                <a:cs typeface="Arial"/>
              </a:rPr>
              <a:t>培训完成</a:t>
            </a:r>
          </a:p>
        </p:txBody>
      </p:sp>
      <p:sp>
        <p:nvSpPr>
          <p:cNvPr id="55" name="Polygon 55"/>
          <p:cNvSpPr/>
          <p:nvPr/>
        </p:nvSpPr>
        <p:spPr>
          <a:xfrm>
            <a:off x="4838700" y="33051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EF4444"/>
          </a:solidFill>
          <a:ln>
            <a:noFill/>
          </a:ln>
        </p:spPr>
      </p:sp>
      <p:sp>
        <p:nvSpPr>
          <p:cNvPr id="56" name="TextBox 56"/>
          <p:cNvSpPr txBox="1"/>
          <p:nvPr/>
        </p:nvSpPr>
        <p:spPr>
          <a:xfrm>
            <a:off x="4685824" y="3186112"/>
            <a:ext cx="439102" cy="152400"/>
          </a:xfrm>
          <a:prstGeom prst="rect">
            <a:avLst/>
          </a:prstGeom>
          <a:noFill/>
          <a:ln>
            <a:noFill/>
          </a:ln>
        </p:spPr>
        <p:txBody>
          <a:bodyPr wrap="none" lIns="0" tIns="0" rIns="0" bIns="0" anchor="t" anchorCtr="0">
            <a:spAutoFit/>
          </a:bodyPr>
          <a:lstStyle/>
          <a:p>
            <a:pPr algn="ctr"/>
            <a:r>
              <a:rPr lang="zh-CN" sz="750" b="1" dirty="0">
                <a:solidFill>
                  <a:srgbClr val="EF4444"/>
                </a:solidFill>
                <a:latin typeface="Arial"/>
                <a:ea typeface="Microsoft YaHei"/>
                <a:cs typeface="Arial"/>
              </a:rPr>
              <a:t>正式上线</a:t>
            </a:r>
          </a:p>
        </p:txBody>
      </p:sp>
      <p:sp>
        <p:nvSpPr>
          <p:cNvPr id="57" name="Polygon 57"/>
          <p:cNvSpPr/>
          <p:nvPr/>
        </p:nvSpPr>
        <p:spPr>
          <a:xfrm>
            <a:off x="10953750" y="383857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10B981"/>
          </a:solidFill>
          <a:ln>
            <a:noFill/>
          </a:ln>
        </p:spPr>
      </p:sp>
      <p:sp>
        <p:nvSpPr>
          <p:cNvPr id="58" name="TextBox 58"/>
          <p:cNvSpPr txBox="1"/>
          <p:nvPr/>
        </p:nvSpPr>
        <p:spPr>
          <a:xfrm>
            <a:off x="10800874" y="4090988"/>
            <a:ext cx="439102" cy="152400"/>
          </a:xfrm>
          <a:prstGeom prst="rect">
            <a:avLst/>
          </a:prstGeom>
          <a:noFill/>
          <a:ln>
            <a:noFill/>
          </a:ln>
        </p:spPr>
        <p:txBody>
          <a:bodyPr wrap="none" lIns="0" tIns="0" rIns="0" bIns="0" anchor="t" anchorCtr="0">
            <a:spAutoFit/>
          </a:bodyPr>
          <a:lstStyle/>
          <a:p>
            <a:pPr algn="ctr"/>
            <a:r>
              <a:rPr lang="zh-CN" sz="750" b="1" dirty="0">
                <a:solidFill>
                  <a:srgbClr val="10B981"/>
                </a:solidFill>
                <a:latin typeface="Arial"/>
                <a:ea typeface="Microsoft YaHei"/>
                <a:cs typeface="Arial"/>
              </a:rPr>
              <a:t>验收通过</a:t>
            </a:r>
          </a:p>
        </p:txBody>
      </p:sp>
      <p:grpSp>
        <p:nvGrpSpPr>
          <p:cNvPr id="71" name="Group 71"/>
          <p:cNvGrpSpPr/>
          <p:nvPr/>
        </p:nvGrpSpPr>
        <p:grpSpPr>
          <a:xfrm>
            <a:off x="571500" y="4352925"/>
            <a:ext cx="5581650" cy="228600"/>
            <a:chOff x="571500" y="4352925"/>
            <a:chExt cx="5581650" cy="228600"/>
          </a:xfrm>
        </p:grpSpPr>
        <p:sp>
          <p:nvSpPr>
            <p:cNvPr id="59" name="Rectangle 59"/>
            <p:cNvSpPr/>
            <p:nvPr/>
          </p:nvSpPr>
          <p:spPr>
            <a:xfrm>
              <a:off x="571500" y="4381500"/>
              <a:ext cx="133350" cy="133350"/>
            </a:xfrm>
            <a:prstGeom prst="roundRect">
              <a:avLst>
                <a:gd name="adj" fmla="val 14286"/>
              </a:avLst>
            </a:prstGeom>
            <a:gradFill>
              <a:gsLst>
                <a:gs pos="0">
                  <a:srgbClr val="2563EB"/>
                </a:gs>
                <a:gs pos="100000">
                  <a:srgbClr val="3B82F6"/>
                </a:gs>
              </a:gsLst>
              <a:lin ang="0" scaled="1"/>
            </a:gradFill>
            <a:ln>
              <a:noFill/>
            </a:ln>
          </p:spPr>
        </p:sp>
        <p:sp>
          <p:nvSpPr>
            <p:cNvPr id="60" name="TextBox 60"/>
            <p:cNvSpPr txBox="1"/>
            <p:nvPr/>
          </p:nvSpPr>
          <p:spPr>
            <a:xfrm>
              <a:off x="769620" y="4398645"/>
              <a:ext cx="62293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准备与部署</a:t>
              </a:r>
            </a:p>
          </p:txBody>
        </p:sp>
        <p:sp>
          <p:nvSpPr>
            <p:cNvPr id="61" name="Rectangle 61"/>
            <p:cNvSpPr/>
            <p:nvPr/>
          </p:nvSpPr>
          <p:spPr>
            <a:xfrm>
              <a:off x="1619250" y="4381500"/>
              <a:ext cx="133350" cy="133350"/>
            </a:xfrm>
            <a:prstGeom prst="roundRect">
              <a:avLst>
                <a:gd name="adj" fmla="val 14286"/>
              </a:avLst>
            </a:prstGeom>
            <a:gradFill>
              <a:gsLst>
                <a:gs pos="0">
                  <a:srgbClr val="10B981"/>
                </a:gs>
                <a:gs pos="100000">
                  <a:srgbClr val="059669"/>
                </a:gs>
              </a:gsLst>
              <a:lin ang="0" scaled="1"/>
            </a:gradFill>
            <a:ln>
              <a:noFill/>
            </a:ln>
          </p:spPr>
        </p:sp>
        <p:sp>
          <p:nvSpPr>
            <p:cNvPr id="62" name="TextBox 62"/>
            <p:cNvSpPr txBox="1"/>
            <p:nvPr/>
          </p:nvSpPr>
          <p:spPr>
            <a:xfrm>
              <a:off x="1817370" y="4398645"/>
              <a:ext cx="50292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系统试点</a:t>
              </a:r>
            </a:p>
          </p:txBody>
        </p:sp>
        <p:sp>
          <p:nvSpPr>
            <p:cNvPr id="63" name="Rectangle 63"/>
            <p:cNvSpPr/>
            <p:nvPr/>
          </p:nvSpPr>
          <p:spPr>
            <a:xfrm>
              <a:off x="2571750" y="4381500"/>
              <a:ext cx="133350" cy="133350"/>
            </a:xfrm>
            <a:prstGeom prst="roundRect">
              <a:avLst>
                <a:gd name="adj" fmla="val 14286"/>
              </a:avLst>
            </a:prstGeom>
            <a:gradFill>
              <a:gsLst>
                <a:gs pos="0">
                  <a:srgbClr val="7C3AED"/>
                </a:gs>
                <a:gs pos="100000">
                  <a:srgbClr val="6D28D9"/>
                </a:gs>
              </a:gsLst>
              <a:lin ang="0" scaled="1"/>
            </a:gradFill>
            <a:ln>
              <a:noFill/>
            </a:ln>
          </p:spPr>
        </p:sp>
        <p:sp>
          <p:nvSpPr>
            <p:cNvPr id="64" name="TextBox 64"/>
            <p:cNvSpPr txBox="1"/>
            <p:nvPr/>
          </p:nvSpPr>
          <p:spPr>
            <a:xfrm>
              <a:off x="2769870" y="4398645"/>
              <a:ext cx="50292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系统上线</a:t>
              </a:r>
            </a:p>
          </p:txBody>
        </p:sp>
        <p:sp>
          <p:nvSpPr>
            <p:cNvPr id="65" name="Rectangle 65"/>
            <p:cNvSpPr/>
            <p:nvPr/>
          </p:nvSpPr>
          <p:spPr>
            <a:xfrm>
              <a:off x="3524250" y="4381500"/>
              <a:ext cx="133350" cy="133350"/>
            </a:xfrm>
            <a:prstGeom prst="roundRect">
              <a:avLst>
                <a:gd name="adj" fmla="val 14286"/>
              </a:avLst>
            </a:prstGeom>
            <a:gradFill>
              <a:gsLst>
                <a:gs pos="0">
                  <a:srgbClr val="F59E0B"/>
                </a:gs>
                <a:gs pos="100000">
                  <a:srgbClr val="D97706"/>
                </a:gs>
              </a:gsLst>
              <a:lin ang="0" scaled="1"/>
            </a:gradFill>
            <a:ln>
              <a:noFill/>
            </a:ln>
          </p:spPr>
        </p:sp>
        <p:sp>
          <p:nvSpPr>
            <p:cNvPr id="66" name="TextBox 66"/>
            <p:cNvSpPr txBox="1"/>
            <p:nvPr/>
          </p:nvSpPr>
          <p:spPr>
            <a:xfrm>
              <a:off x="3722370" y="4398645"/>
              <a:ext cx="50292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上线通知</a:t>
              </a:r>
            </a:p>
          </p:txBody>
        </p:sp>
        <p:sp>
          <p:nvSpPr>
            <p:cNvPr id="67" name="Rectangle 67"/>
            <p:cNvSpPr/>
            <p:nvPr/>
          </p:nvSpPr>
          <p:spPr>
            <a:xfrm>
              <a:off x="4476750" y="4381500"/>
              <a:ext cx="133350" cy="133350"/>
            </a:xfrm>
            <a:prstGeom prst="roundRect">
              <a:avLst>
                <a:gd name="adj" fmla="val 14286"/>
              </a:avLst>
            </a:prstGeom>
            <a:gradFill>
              <a:gsLst>
                <a:gs pos="0">
                  <a:srgbClr val="EF4444"/>
                </a:gs>
                <a:gs pos="100000">
                  <a:srgbClr val="DC2626"/>
                </a:gs>
              </a:gsLst>
              <a:lin ang="0" scaled="1"/>
            </a:gradFill>
            <a:ln>
              <a:noFill/>
            </a:ln>
          </p:spPr>
        </p:sp>
        <p:sp>
          <p:nvSpPr>
            <p:cNvPr id="68" name="TextBox 68"/>
            <p:cNvSpPr txBox="1"/>
            <p:nvPr/>
          </p:nvSpPr>
          <p:spPr>
            <a:xfrm>
              <a:off x="4674870" y="4398645"/>
              <a:ext cx="50292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跟踪验收</a:t>
              </a:r>
            </a:p>
          </p:txBody>
        </p:sp>
        <p:sp>
          <p:nvSpPr>
            <p:cNvPr id="69" name="Polygon 69"/>
            <p:cNvSpPr/>
            <p:nvPr/>
          </p:nvSpPr>
          <p:spPr>
            <a:xfrm>
              <a:off x="5524500" y="4352925"/>
              <a:ext cx="133350" cy="190500"/>
            </a:xfrm>
            <a:custGeom>
              <a:avLst/>
              <a:gdLst/>
              <a:ahLst/>
              <a:cxnLst/>
              <a:rect l="l" t="t" r="r" b="b"/>
              <a:pathLst>
                <a:path w="133350" h="190500">
                  <a:moveTo>
                    <a:pt x="0" y="95250"/>
                  </a:moveTo>
                  <a:lnTo>
                    <a:pt x="66675" y="0"/>
                  </a:lnTo>
                  <a:lnTo>
                    <a:pt x="133350" y="95250"/>
                  </a:lnTo>
                  <a:lnTo>
                    <a:pt x="66675" y="190500"/>
                  </a:lnTo>
                  <a:close/>
                </a:path>
              </a:pathLst>
            </a:custGeom>
            <a:solidFill>
              <a:srgbClr val="F59E0B"/>
            </a:solidFill>
            <a:ln>
              <a:noFill/>
            </a:ln>
          </p:spPr>
        </p:sp>
        <p:sp>
          <p:nvSpPr>
            <p:cNvPr id="70" name="TextBox 70"/>
            <p:cNvSpPr txBox="1"/>
            <p:nvPr/>
          </p:nvSpPr>
          <p:spPr>
            <a:xfrm>
              <a:off x="5770245" y="4398645"/>
              <a:ext cx="38290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里程碑</a:t>
              </a:r>
            </a:p>
          </p:txBody>
        </p:sp>
      </p:grpSp>
      <p:grpSp>
        <p:nvGrpSpPr>
          <p:cNvPr id="79" name="Group 79"/>
          <p:cNvGrpSpPr/>
          <p:nvPr/>
        </p:nvGrpSpPr>
        <p:grpSpPr>
          <a:xfrm>
            <a:off x="560070" y="4665345"/>
            <a:ext cx="3789426" cy="763905"/>
            <a:chOff x="560070" y="4665345"/>
            <a:chExt cx="3789426" cy="763905"/>
          </a:xfrm>
        </p:grpSpPr>
        <p:sp>
          <p:nvSpPr>
            <p:cNvPr id="72" name="TextBox 72"/>
            <p:cNvSpPr txBox="1"/>
            <p:nvPr/>
          </p:nvSpPr>
          <p:spPr>
            <a:xfrm>
              <a:off x="560070" y="4665345"/>
              <a:ext cx="56892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关键活动:</a:t>
              </a:r>
            </a:p>
          </p:txBody>
        </p:sp>
        <p:sp>
          <p:nvSpPr>
            <p:cNvPr id="73" name="Ellipse 73"/>
            <p:cNvSpPr/>
            <p:nvPr/>
          </p:nvSpPr>
          <p:spPr>
            <a:xfrm>
              <a:off x="685800" y="4895850"/>
              <a:ext cx="57150" cy="57150"/>
            </a:xfrm>
            <a:prstGeom prst="ellipse">
              <a:avLst/>
            </a:prstGeom>
            <a:solidFill>
              <a:srgbClr val="2563EB"/>
            </a:solidFill>
            <a:ln>
              <a:noFill/>
            </a:ln>
          </p:spPr>
        </p:sp>
        <p:sp>
          <p:nvSpPr>
            <p:cNvPr id="74" name="TextBox 74"/>
            <p:cNvSpPr txBox="1"/>
            <p:nvPr/>
          </p:nvSpPr>
          <p:spPr>
            <a:xfrm>
              <a:off x="798195" y="4865370"/>
              <a:ext cx="337127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合同签订 (5/21) → 团队组建 (5/21-22) → 业务梳理 (5/22-25)</a:t>
              </a:r>
            </a:p>
          </p:txBody>
        </p:sp>
        <p:sp>
          <p:nvSpPr>
            <p:cNvPr id="75" name="Ellipse 75"/>
            <p:cNvSpPr/>
            <p:nvPr/>
          </p:nvSpPr>
          <p:spPr>
            <a:xfrm>
              <a:off x="685800" y="5086350"/>
              <a:ext cx="57150" cy="57150"/>
            </a:xfrm>
            <a:prstGeom prst="ellipse">
              <a:avLst/>
            </a:prstGeom>
            <a:solidFill>
              <a:srgbClr val="2563EB"/>
            </a:solidFill>
            <a:ln>
              <a:noFill/>
            </a:ln>
          </p:spPr>
        </p:sp>
        <p:sp>
          <p:nvSpPr>
            <p:cNvPr id="76" name="TextBox 76"/>
            <p:cNvSpPr txBox="1"/>
            <p:nvPr/>
          </p:nvSpPr>
          <p:spPr>
            <a:xfrm>
              <a:off x="798195" y="5055870"/>
              <a:ext cx="3551301"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系统部署 (5/25-26) → 需求调研 (5/26-28) → 项目启动会 (5/29)</a:t>
              </a:r>
            </a:p>
          </p:txBody>
        </p:sp>
        <p:sp>
          <p:nvSpPr>
            <p:cNvPr id="77" name="Ellipse 77"/>
            <p:cNvSpPr/>
            <p:nvPr/>
          </p:nvSpPr>
          <p:spPr>
            <a:xfrm>
              <a:off x="685800" y="5276850"/>
              <a:ext cx="57150" cy="57150"/>
            </a:xfrm>
            <a:prstGeom prst="ellipse">
              <a:avLst/>
            </a:prstGeom>
            <a:solidFill>
              <a:srgbClr val="2563EB"/>
            </a:solidFill>
            <a:ln>
              <a:noFill/>
            </a:ln>
          </p:spPr>
        </p:sp>
        <p:sp>
          <p:nvSpPr>
            <p:cNvPr id="78" name="TextBox 78"/>
            <p:cNvSpPr txBox="1"/>
            <p:nvPr/>
          </p:nvSpPr>
          <p:spPr>
            <a:xfrm>
              <a:off x="798195" y="5246370"/>
              <a:ext cx="343728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方案输出 (5/29-6/2) → 权限收集 (6/1-5) → 初始配置 (6/3-12)</a:t>
              </a:r>
            </a:p>
          </p:txBody>
        </p:sp>
      </p:grpSp>
      <p:grpSp>
        <p:nvGrpSpPr>
          <p:cNvPr id="84" name="Group 84"/>
          <p:cNvGrpSpPr/>
          <p:nvPr/>
        </p:nvGrpSpPr>
        <p:grpSpPr>
          <a:xfrm>
            <a:off x="685800" y="5513070"/>
            <a:ext cx="4515803" cy="373380"/>
            <a:chOff x="685800" y="5513070"/>
            <a:chExt cx="4515803" cy="373380"/>
          </a:xfrm>
        </p:grpSpPr>
        <p:sp>
          <p:nvSpPr>
            <p:cNvPr id="80" name="Ellipse 80"/>
            <p:cNvSpPr/>
            <p:nvPr/>
          </p:nvSpPr>
          <p:spPr>
            <a:xfrm>
              <a:off x="685800" y="5543550"/>
              <a:ext cx="57150" cy="57150"/>
            </a:xfrm>
            <a:prstGeom prst="ellipse">
              <a:avLst/>
            </a:prstGeom>
            <a:solidFill>
              <a:srgbClr val="10B981"/>
            </a:solidFill>
            <a:ln>
              <a:noFill/>
            </a:ln>
          </p:spPr>
        </p:sp>
        <p:sp>
          <p:nvSpPr>
            <p:cNvPr id="81" name="TextBox 81"/>
            <p:cNvSpPr txBox="1"/>
            <p:nvPr/>
          </p:nvSpPr>
          <p:spPr>
            <a:xfrm>
              <a:off x="798195" y="5513070"/>
              <a:ext cx="322126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试点培训 (6/15) → 试运行 (6/15-26) → 答疑优化 (6/15-26)</a:t>
              </a:r>
            </a:p>
          </p:txBody>
        </p:sp>
        <p:sp>
          <p:nvSpPr>
            <p:cNvPr id="82" name="Ellipse 82"/>
            <p:cNvSpPr/>
            <p:nvPr/>
          </p:nvSpPr>
          <p:spPr>
            <a:xfrm>
              <a:off x="685800" y="5734050"/>
              <a:ext cx="57150" cy="57150"/>
            </a:xfrm>
            <a:prstGeom prst="ellipse">
              <a:avLst/>
            </a:prstGeom>
            <a:solidFill>
              <a:srgbClr val="7C3AED"/>
            </a:solidFill>
            <a:ln>
              <a:noFill/>
            </a:ln>
          </p:spPr>
        </p:sp>
        <p:sp>
          <p:nvSpPr>
            <p:cNvPr id="83" name="TextBox 83"/>
            <p:cNvSpPr txBox="1"/>
            <p:nvPr/>
          </p:nvSpPr>
          <p:spPr>
            <a:xfrm>
              <a:off x="798195" y="5703570"/>
              <a:ext cx="440340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优化手册 (6/22-26) → 管理员培训 (6/29) → 操作培训 (6/29) → 上线通知 (6/30)</a:t>
              </a:r>
            </a:p>
          </p:txBody>
        </p:sp>
      </p:grpSp>
      <p:sp>
        <p:nvSpPr>
          <p:cNvPr id="85" name="Rectangle 85"/>
          <p:cNvSpPr/>
          <p:nvPr/>
        </p:nvSpPr>
        <p:spPr>
          <a:xfrm>
            <a:off x="571500" y="5953125"/>
            <a:ext cx="11049000" cy="9525"/>
          </a:xfrm>
          <a:prstGeom prst="rect">
            <a:avLst/>
          </a:prstGeom>
          <a:solidFill>
            <a:srgbClr val="E2E8F0"/>
          </a:solidFill>
          <a:ln>
            <a:noFill/>
          </a:ln>
        </p:spPr>
      </p:sp>
      <p:sp>
        <p:nvSpPr>
          <p:cNvPr id="86" name="TextBox 86"/>
          <p:cNvSpPr txBox="1"/>
          <p:nvPr/>
        </p:nvSpPr>
        <p:spPr>
          <a:xfrm>
            <a:off x="560070" y="6189345"/>
            <a:ext cx="2795206"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总计 19 个任务 | 管理员: 小冯 | 项目周期: 约 7 个月</a:t>
            </a:r>
          </a:p>
        </p:txBody>
      </p:sp>
      <p:sp>
        <p:nvSpPr>
          <p:cNvPr id="87" name="TextBox 87"/>
          <p:cNvSpPr txBox="1"/>
          <p:nvPr/>
        </p:nvSpPr>
        <p:spPr>
          <a:xfrm>
            <a:off x="10630948" y="6189345"/>
            <a:ext cx="100098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PingCode系统实施</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44830" y="249555"/>
            <a:ext cx="3625887" cy="426720"/>
          </a:xfrm>
          <a:prstGeom prst="rect">
            <a:avLst/>
          </a:prstGeom>
          <a:noFill/>
          <a:ln>
            <a:noFill/>
          </a:ln>
        </p:spPr>
        <p:txBody>
          <a:bodyPr wrap="none" lIns="0" tIns="0" rIns="0" bIns="0" anchor="t" anchorCtr="0">
            <a:spAutoFit/>
          </a:bodyPr>
          <a:lstStyle/>
          <a:p>
            <a:pPr algn="l"/>
            <a:r>
              <a:rPr lang="zh-CN" sz="2100" b="1" dirty="0">
                <a:solidFill>
                  <a:srgbClr val="1E293B"/>
                </a:solidFill>
                <a:latin typeface="Arial"/>
                <a:ea typeface="Microsoft YaHei"/>
                <a:cs typeface="Arial"/>
              </a:rPr>
              <a:t>阶段1: 项目准备与系统部署</a:t>
            </a:r>
          </a:p>
        </p:txBody>
      </p:sp>
      <p:sp>
        <p:nvSpPr>
          <p:cNvPr id="5" name="TextBox 5"/>
          <p:cNvSpPr txBox="1"/>
          <p:nvPr/>
        </p:nvSpPr>
        <p:spPr>
          <a:xfrm>
            <a:off x="557212" y="621506"/>
            <a:ext cx="2706410"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2026年5月21日 — 6月12日 · 9个关键任务</a:t>
            </a:r>
          </a:p>
        </p:txBody>
      </p:sp>
      <p:sp>
        <p:nvSpPr>
          <p:cNvPr id="6" name="TextBox 6"/>
          <p:cNvSpPr txBox="1"/>
          <p:nvPr/>
        </p:nvSpPr>
        <p:spPr>
          <a:xfrm>
            <a:off x="11393591" y="370999"/>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P04</a:t>
            </a:r>
          </a:p>
        </p:txBody>
      </p:sp>
      <p:sp>
        <p:nvSpPr>
          <p:cNvPr id="7" name="Rectangle 7"/>
          <p:cNvSpPr/>
          <p:nvPr/>
        </p:nvSpPr>
        <p:spPr>
          <a:xfrm>
            <a:off x="571500" y="1000125"/>
            <a:ext cx="11049000" cy="38100"/>
          </a:xfrm>
          <a:prstGeom prst="roundRect">
            <a:avLst>
              <a:gd name="adj" fmla="val 50000"/>
            </a:avLst>
          </a:prstGeom>
          <a:solidFill>
            <a:srgbClr val="E2E8F0"/>
          </a:solidFill>
          <a:ln>
            <a:noFill/>
          </a:ln>
        </p:spPr>
      </p:sp>
      <p:sp>
        <p:nvSpPr>
          <p:cNvPr id="8" name="Rectangle 8"/>
          <p:cNvSpPr/>
          <p:nvPr/>
        </p:nvSpPr>
        <p:spPr>
          <a:xfrm>
            <a:off x="571500" y="1000125"/>
            <a:ext cx="11049000" cy="38100"/>
          </a:xfrm>
          <a:prstGeom prst="roundRect">
            <a:avLst>
              <a:gd name="adj" fmla="val 50000"/>
            </a:avLst>
          </a:prstGeom>
          <a:solidFill>
            <a:srgbClr val="2563EB">
              <a:alpha val="40000"/>
            </a:srgbClr>
          </a:solidFill>
          <a:ln>
            <a:noFill/>
          </a:ln>
        </p:spPr>
      </p:sp>
      <p:grpSp>
        <p:nvGrpSpPr>
          <p:cNvPr id="30" name="Group 30"/>
          <p:cNvGrpSpPr/>
          <p:nvPr/>
        </p:nvGrpSpPr>
        <p:grpSpPr>
          <a:xfrm>
            <a:off x="571500" y="1238250"/>
            <a:ext cx="11049000" cy="1524000"/>
            <a:chOff x="571500" y="1238250"/>
            <a:chExt cx="11049000" cy="1524000"/>
          </a:xfrm>
          <a:effectLst>
            <a:outerShdw blurRad="57150" dist="9525" dir="5400000" algn="ctr" rotWithShape="0">
              <a:srgbClr val="0F172A">
                <a:alpha val="3750"/>
              </a:srgbClr>
            </a:outerShdw>
          </a:effectLst>
        </p:grpSpPr>
        <p:sp>
          <p:nvSpPr>
            <p:cNvPr id="9" name="Rectangle 9"/>
            <p:cNvSpPr/>
            <p:nvPr/>
          </p:nvSpPr>
          <p:spPr>
            <a:xfrm>
              <a:off x="571500" y="1238250"/>
              <a:ext cx="3524250" cy="1524000"/>
            </a:xfrm>
            <a:prstGeom prst="roundRect">
              <a:avLst>
                <a:gd name="adj" fmla="val 6250"/>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10" name="Rectangle 10"/>
            <p:cNvSpPr/>
            <p:nvPr/>
          </p:nvSpPr>
          <p:spPr>
            <a:xfrm>
              <a:off x="571500" y="1238250"/>
              <a:ext cx="3524250" cy="47625"/>
            </a:xfrm>
            <a:prstGeom prst="roundRect">
              <a:avLst>
                <a:gd name="adj" fmla="val 40000"/>
              </a:avLst>
            </a:prstGeom>
            <a:solidFill>
              <a:srgbClr val="2563EB"/>
            </a:solidFill>
            <a:ln>
              <a:noFill/>
            </a:ln>
            <a:effectLst>
              <a:outerShdw blurRad="57150" dist="9525" dir="5400000" algn="ctr" rotWithShape="0">
                <a:srgbClr val="0F172A">
                  <a:alpha val="3750"/>
                </a:srgbClr>
              </a:outerShdw>
            </a:effectLst>
          </p:spPr>
        </p:sp>
        <p:sp>
          <p:nvSpPr>
            <p:cNvPr id="11" name="TextBox 11"/>
            <p:cNvSpPr txBox="1"/>
            <p:nvPr/>
          </p:nvSpPr>
          <p:spPr>
            <a:xfrm>
              <a:off x="751522" y="1530191"/>
              <a:ext cx="309741"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2563EB"/>
                  </a:solidFill>
                  <a:latin typeface="Arial"/>
                  <a:ea typeface="Microsoft YaHei"/>
                  <a:cs typeface="Arial"/>
                </a:rPr>
                <a:t>05/21</a:t>
              </a:r>
            </a:p>
          </p:txBody>
        </p:sp>
        <p:sp>
          <p:nvSpPr>
            <p:cNvPr id="12" name="TextBox 12"/>
            <p:cNvSpPr txBox="1"/>
            <p:nvPr/>
          </p:nvSpPr>
          <p:spPr>
            <a:xfrm>
              <a:off x="744855" y="1711642"/>
              <a:ext cx="790384"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合同签订</a:t>
              </a:r>
            </a:p>
          </p:txBody>
        </p:sp>
        <p:sp>
          <p:nvSpPr>
            <p:cNvPr id="13" name="TextBox 13"/>
            <p:cNvSpPr txBox="1"/>
            <p:nvPr/>
          </p:nvSpPr>
          <p:spPr>
            <a:xfrm>
              <a:off x="749618" y="1990249"/>
              <a:ext cx="1064895"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完成商务合同签署</a:t>
              </a:r>
            </a:p>
          </p:txBody>
        </p:sp>
        <p:sp>
          <p:nvSpPr>
            <p:cNvPr id="14" name="Rectangle 14"/>
            <p:cNvSpPr/>
            <p:nvPr/>
          </p:nvSpPr>
          <p:spPr>
            <a:xfrm>
              <a:off x="762000" y="2286000"/>
              <a:ext cx="571500" cy="209550"/>
            </a:xfrm>
            <a:prstGeom prst="roundRect">
              <a:avLst>
                <a:gd name="adj" fmla="val 18182"/>
              </a:avLst>
            </a:prstGeom>
            <a:solidFill>
              <a:srgbClr val="EBF0FD"/>
            </a:solidFill>
            <a:ln>
              <a:noFill/>
            </a:ln>
            <a:effectLst>
              <a:outerShdw blurRad="57150" dist="9525" dir="5400000" algn="ctr" rotWithShape="0">
                <a:srgbClr val="0F172A">
                  <a:alpha val="3750"/>
                </a:srgbClr>
              </a:outerShdw>
            </a:effectLst>
          </p:spPr>
        </p:sp>
        <p:sp>
          <p:nvSpPr>
            <p:cNvPr id="15" name="TextBox 15"/>
            <p:cNvSpPr txBox="1"/>
            <p:nvPr/>
          </p:nvSpPr>
          <p:spPr>
            <a:xfrm>
              <a:off x="927259" y="2349341"/>
              <a:ext cx="24098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2563EB"/>
                  </a:solidFill>
                  <a:latin typeface="Arial"/>
                  <a:ea typeface="Microsoft YaHei"/>
                  <a:cs typeface="Arial"/>
                </a:rPr>
                <a:t>乙方</a:t>
              </a:r>
            </a:p>
          </p:txBody>
        </p:sp>
        <p:sp>
          <p:nvSpPr>
            <p:cNvPr id="16" name="Rectangle 16"/>
            <p:cNvSpPr/>
            <p:nvPr/>
          </p:nvSpPr>
          <p:spPr>
            <a:xfrm>
              <a:off x="4286250" y="1238250"/>
              <a:ext cx="3524250" cy="1524000"/>
            </a:xfrm>
            <a:prstGeom prst="roundRect">
              <a:avLst>
                <a:gd name="adj" fmla="val 6250"/>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17" name="Rectangle 17"/>
            <p:cNvSpPr/>
            <p:nvPr/>
          </p:nvSpPr>
          <p:spPr>
            <a:xfrm>
              <a:off x="4286250" y="1238250"/>
              <a:ext cx="3524250" cy="47625"/>
            </a:xfrm>
            <a:prstGeom prst="roundRect">
              <a:avLst>
                <a:gd name="adj" fmla="val 40000"/>
              </a:avLst>
            </a:prstGeom>
            <a:solidFill>
              <a:srgbClr val="2563EB"/>
            </a:solidFill>
            <a:ln>
              <a:noFill/>
            </a:ln>
            <a:effectLst>
              <a:outerShdw blurRad="57150" dist="9525" dir="5400000" algn="ctr" rotWithShape="0">
                <a:srgbClr val="0F172A">
                  <a:alpha val="3750"/>
                </a:srgbClr>
              </a:outerShdw>
            </a:effectLst>
          </p:spPr>
        </p:sp>
        <p:sp>
          <p:nvSpPr>
            <p:cNvPr id="18" name="TextBox 18"/>
            <p:cNvSpPr txBox="1"/>
            <p:nvPr/>
          </p:nvSpPr>
          <p:spPr>
            <a:xfrm>
              <a:off x="4466272" y="1530191"/>
              <a:ext cx="760247"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2563EB"/>
                  </a:solidFill>
                  <a:latin typeface="Arial"/>
                  <a:ea typeface="Microsoft YaHei"/>
                  <a:cs typeface="Arial"/>
                </a:rPr>
                <a:t>05/21 — 05/22</a:t>
              </a:r>
            </a:p>
          </p:txBody>
        </p:sp>
        <p:sp>
          <p:nvSpPr>
            <p:cNvPr id="19" name="TextBox 19"/>
            <p:cNvSpPr txBox="1"/>
            <p:nvPr/>
          </p:nvSpPr>
          <p:spPr>
            <a:xfrm>
              <a:off x="4459605" y="1711642"/>
              <a:ext cx="1168432"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组建项目团队</a:t>
              </a:r>
            </a:p>
          </p:txBody>
        </p:sp>
        <p:sp>
          <p:nvSpPr>
            <p:cNvPr id="20" name="TextBox 20"/>
            <p:cNvSpPr txBox="1"/>
            <p:nvPr/>
          </p:nvSpPr>
          <p:spPr>
            <a:xfrm>
              <a:off x="4464368" y="1990249"/>
              <a:ext cx="1714976"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甲乙双方确认项目成员及职责</a:t>
              </a:r>
            </a:p>
          </p:txBody>
        </p:sp>
        <p:sp>
          <p:nvSpPr>
            <p:cNvPr id="21" name="Rectangle 21"/>
            <p:cNvSpPr/>
            <p:nvPr/>
          </p:nvSpPr>
          <p:spPr>
            <a:xfrm>
              <a:off x="4476750" y="2286000"/>
              <a:ext cx="571500" cy="209550"/>
            </a:xfrm>
            <a:prstGeom prst="roundRect">
              <a:avLst>
                <a:gd name="adj" fmla="val 18182"/>
              </a:avLst>
            </a:prstGeom>
            <a:solidFill>
              <a:srgbClr val="EBF0FD"/>
            </a:solidFill>
            <a:ln>
              <a:noFill/>
            </a:ln>
            <a:effectLst>
              <a:outerShdw blurRad="57150" dist="9525" dir="5400000" algn="ctr" rotWithShape="0">
                <a:srgbClr val="0F172A">
                  <a:alpha val="3750"/>
                </a:srgbClr>
              </a:outerShdw>
            </a:effectLst>
          </p:spPr>
        </p:sp>
        <p:sp>
          <p:nvSpPr>
            <p:cNvPr id="22" name="TextBox 22"/>
            <p:cNvSpPr txBox="1"/>
            <p:nvPr/>
          </p:nvSpPr>
          <p:spPr>
            <a:xfrm>
              <a:off x="4642009" y="2349341"/>
              <a:ext cx="24098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2563EB"/>
                  </a:solidFill>
                  <a:latin typeface="Arial"/>
                  <a:ea typeface="Microsoft YaHei"/>
                  <a:cs typeface="Arial"/>
                </a:rPr>
                <a:t>乙方</a:t>
              </a:r>
            </a:p>
          </p:txBody>
        </p:sp>
        <p:sp>
          <p:nvSpPr>
            <p:cNvPr id="23" name="Rectangle 23"/>
            <p:cNvSpPr/>
            <p:nvPr/>
          </p:nvSpPr>
          <p:spPr>
            <a:xfrm>
              <a:off x="8001000" y="1238250"/>
              <a:ext cx="3619500" cy="1524000"/>
            </a:xfrm>
            <a:prstGeom prst="roundRect">
              <a:avLst>
                <a:gd name="adj" fmla="val 6250"/>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24" name="Rectangle 24"/>
            <p:cNvSpPr/>
            <p:nvPr/>
          </p:nvSpPr>
          <p:spPr>
            <a:xfrm>
              <a:off x="8001000" y="1238250"/>
              <a:ext cx="3619500" cy="47625"/>
            </a:xfrm>
            <a:prstGeom prst="roundRect">
              <a:avLst>
                <a:gd name="adj" fmla="val 40000"/>
              </a:avLst>
            </a:prstGeom>
            <a:solidFill>
              <a:srgbClr val="2563EB"/>
            </a:solidFill>
            <a:ln>
              <a:noFill/>
            </a:ln>
            <a:effectLst>
              <a:outerShdw blurRad="57150" dist="9525" dir="5400000" algn="ctr" rotWithShape="0">
                <a:srgbClr val="0F172A">
                  <a:alpha val="3750"/>
                </a:srgbClr>
              </a:outerShdw>
            </a:effectLst>
          </p:spPr>
        </p:sp>
        <p:sp>
          <p:nvSpPr>
            <p:cNvPr id="25" name="TextBox 25"/>
            <p:cNvSpPr txBox="1"/>
            <p:nvPr/>
          </p:nvSpPr>
          <p:spPr>
            <a:xfrm>
              <a:off x="8181022" y="1530191"/>
              <a:ext cx="789126"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2563EB"/>
                  </a:solidFill>
                  <a:latin typeface="Arial"/>
                  <a:ea typeface="Microsoft YaHei"/>
                  <a:cs typeface="Arial"/>
                </a:rPr>
                <a:t>05/22 — 05/25</a:t>
              </a:r>
            </a:p>
          </p:txBody>
        </p:sp>
        <p:sp>
          <p:nvSpPr>
            <p:cNvPr id="26" name="TextBox 26"/>
            <p:cNvSpPr txBox="1"/>
            <p:nvPr/>
          </p:nvSpPr>
          <p:spPr>
            <a:xfrm>
              <a:off x="8174355" y="1711642"/>
              <a:ext cx="1546479"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梳理核心业务场景</a:t>
              </a:r>
            </a:p>
          </p:txBody>
        </p:sp>
        <p:sp>
          <p:nvSpPr>
            <p:cNvPr id="27" name="TextBox 27"/>
            <p:cNvSpPr txBox="1"/>
            <p:nvPr/>
          </p:nvSpPr>
          <p:spPr>
            <a:xfrm>
              <a:off x="8179118" y="1990249"/>
              <a:ext cx="1714976"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梳理业务流程与现有工作流程</a:t>
              </a:r>
            </a:p>
          </p:txBody>
        </p:sp>
        <p:sp>
          <p:nvSpPr>
            <p:cNvPr id="28" name="Rectangle 28"/>
            <p:cNvSpPr/>
            <p:nvPr/>
          </p:nvSpPr>
          <p:spPr>
            <a:xfrm>
              <a:off x="8191500" y="2286000"/>
              <a:ext cx="571500" cy="209550"/>
            </a:xfrm>
            <a:prstGeom prst="roundRect">
              <a:avLst>
                <a:gd name="adj" fmla="val 18182"/>
              </a:avLst>
            </a:prstGeom>
            <a:solidFill>
              <a:srgbClr val="EBF0FD"/>
            </a:solidFill>
            <a:ln>
              <a:noFill/>
            </a:ln>
            <a:effectLst>
              <a:outerShdw blurRad="57150" dist="9525" dir="5400000" algn="ctr" rotWithShape="0">
                <a:srgbClr val="0F172A">
                  <a:alpha val="3750"/>
                </a:srgbClr>
              </a:outerShdw>
            </a:effectLst>
          </p:spPr>
        </p:sp>
        <p:sp>
          <p:nvSpPr>
            <p:cNvPr id="29" name="TextBox 29"/>
            <p:cNvSpPr txBox="1"/>
            <p:nvPr/>
          </p:nvSpPr>
          <p:spPr>
            <a:xfrm>
              <a:off x="8356759" y="2349341"/>
              <a:ext cx="24098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2563EB"/>
                  </a:solidFill>
                  <a:latin typeface="Arial"/>
                  <a:ea typeface="Microsoft YaHei"/>
                  <a:cs typeface="Arial"/>
                </a:rPr>
                <a:t>乙方</a:t>
              </a:r>
            </a:p>
          </p:txBody>
        </p:sp>
      </p:grpSp>
      <p:grpSp>
        <p:nvGrpSpPr>
          <p:cNvPr id="52" name="Group 52"/>
          <p:cNvGrpSpPr/>
          <p:nvPr/>
        </p:nvGrpSpPr>
        <p:grpSpPr>
          <a:xfrm>
            <a:off x="571500" y="2952750"/>
            <a:ext cx="11049000" cy="1524000"/>
            <a:chOff x="571500" y="2952750"/>
            <a:chExt cx="11049000" cy="1524000"/>
          </a:xfrm>
          <a:effectLst>
            <a:outerShdw blurRad="57150" dist="9525" dir="5400000" algn="ctr" rotWithShape="0">
              <a:srgbClr val="0F172A">
                <a:alpha val="3750"/>
              </a:srgbClr>
            </a:outerShdw>
          </a:effectLst>
        </p:grpSpPr>
        <p:sp>
          <p:nvSpPr>
            <p:cNvPr id="31" name="Rectangle 31"/>
            <p:cNvSpPr/>
            <p:nvPr/>
          </p:nvSpPr>
          <p:spPr>
            <a:xfrm>
              <a:off x="571500" y="2952750"/>
              <a:ext cx="3524250" cy="1524000"/>
            </a:xfrm>
            <a:prstGeom prst="roundRect">
              <a:avLst>
                <a:gd name="adj" fmla="val 6250"/>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32" name="Rectangle 32"/>
            <p:cNvSpPr/>
            <p:nvPr/>
          </p:nvSpPr>
          <p:spPr>
            <a:xfrm>
              <a:off x="571500" y="2952750"/>
              <a:ext cx="3524250" cy="47625"/>
            </a:xfrm>
            <a:prstGeom prst="roundRect">
              <a:avLst>
                <a:gd name="adj" fmla="val 40000"/>
              </a:avLst>
            </a:prstGeom>
            <a:solidFill>
              <a:srgbClr val="F59E0B"/>
            </a:solidFill>
            <a:ln>
              <a:noFill/>
            </a:ln>
            <a:effectLst>
              <a:outerShdw blurRad="57150" dist="9525" dir="5400000" algn="ctr" rotWithShape="0">
                <a:srgbClr val="0F172A">
                  <a:alpha val="3750"/>
                </a:srgbClr>
              </a:outerShdw>
            </a:effectLst>
          </p:spPr>
        </p:sp>
        <p:sp>
          <p:nvSpPr>
            <p:cNvPr id="33" name="TextBox 33"/>
            <p:cNvSpPr txBox="1"/>
            <p:nvPr/>
          </p:nvSpPr>
          <p:spPr>
            <a:xfrm>
              <a:off x="751522" y="3244691"/>
              <a:ext cx="789126"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F59E0B"/>
                  </a:solidFill>
                  <a:latin typeface="Arial"/>
                  <a:ea typeface="Microsoft YaHei"/>
                  <a:cs typeface="Arial"/>
                </a:rPr>
                <a:t>05/25 — 05/26</a:t>
              </a:r>
            </a:p>
          </p:txBody>
        </p:sp>
        <p:sp>
          <p:nvSpPr>
            <p:cNvPr id="34" name="TextBox 34"/>
            <p:cNvSpPr txBox="1"/>
            <p:nvPr/>
          </p:nvSpPr>
          <p:spPr>
            <a:xfrm>
              <a:off x="744855" y="3426142"/>
              <a:ext cx="790384"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系统部署</a:t>
              </a:r>
            </a:p>
          </p:txBody>
        </p:sp>
        <p:sp>
          <p:nvSpPr>
            <p:cNvPr id="35" name="TextBox 35"/>
            <p:cNvSpPr txBox="1"/>
            <p:nvPr/>
          </p:nvSpPr>
          <p:spPr>
            <a:xfrm>
              <a:off x="749618" y="3704749"/>
              <a:ext cx="1064895"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部署对应功能模块</a:t>
              </a:r>
            </a:p>
          </p:txBody>
        </p:sp>
        <p:sp>
          <p:nvSpPr>
            <p:cNvPr id="36" name="Rectangle 36"/>
            <p:cNvSpPr/>
            <p:nvPr/>
          </p:nvSpPr>
          <p:spPr>
            <a:xfrm>
              <a:off x="762000" y="4000500"/>
              <a:ext cx="571500" cy="209550"/>
            </a:xfrm>
            <a:prstGeom prst="roundRect">
              <a:avLst>
                <a:gd name="adj" fmla="val 18182"/>
              </a:avLst>
            </a:prstGeom>
            <a:solidFill>
              <a:srgbClr val="FEF3C7"/>
            </a:solidFill>
            <a:ln>
              <a:noFill/>
            </a:ln>
            <a:effectLst>
              <a:outerShdw blurRad="57150" dist="9525" dir="5400000" algn="ctr" rotWithShape="0">
                <a:srgbClr val="0F172A">
                  <a:alpha val="3750"/>
                </a:srgbClr>
              </a:outerShdw>
            </a:effectLst>
          </p:spPr>
        </p:sp>
        <p:sp>
          <p:nvSpPr>
            <p:cNvPr id="37" name="TextBox 37"/>
            <p:cNvSpPr txBox="1"/>
            <p:nvPr/>
          </p:nvSpPr>
          <p:spPr>
            <a:xfrm>
              <a:off x="880503" y="4063841"/>
              <a:ext cx="334494"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F59E0B"/>
                  </a:solidFill>
                  <a:latin typeface="Arial"/>
                  <a:ea typeface="Microsoft YaHei"/>
                  <a:cs typeface="Arial"/>
                </a:rPr>
                <a:t>甲方IT</a:t>
              </a:r>
            </a:p>
          </p:txBody>
        </p:sp>
        <p:sp>
          <p:nvSpPr>
            <p:cNvPr id="38" name="Rectangle 38"/>
            <p:cNvSpPr/>
            <p:nvPr/>
          </p:nvSpPr>
          <p:spPr>
            <a:xfrm>
              <a:off x="4286250" y="2952750"/>
              <a:ext cx="3524250" cy="1524000"/>
            </a:xfrm>
            <a:prstGeom prst="roundRect">
              <a:avLst>
                <a:gd name="adj" fmla="val 6250"/>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39" name="Rectangle 39"/>
            <p:cNvSpPr/>
            <p:nvPr/>
          </p:nvSpPr>
          <p:spPr>
            <a:xfrm>
              <a:off x="4286250" y="2952750"/>
              <a:ext cx="3524250" cy="47625"/>
            </a:xfrm>
            <a:prstGeom prst="roundRect">
              <a:avLst>
                <a:gd name="adj" fmla="val 40000"/>
              </a:avLst>
            </a:prstGeom>
            <a:solidFill>
              <a:srgbClr val="F59E0B"/>
            </a:solidFill>
            <a:ln>
              <a:noFill/>
            </a:ln>
            <a:effectLst>
              <a:outerShdw blurRad="57150" dist="9525" dir="5400000" algn="ctr" rotWithShape="0">
                <a:srgbClr val="0F172A">
                  <a:alpha val="3750"/>
                </a:srgbClr>
              </a:outerShdw>
            </a:effectLst>
          </p:spPr>
        </p:sp>
        <p:sp>
          <p:nvSpPr>
            <p:cNvPr id="40" name="TextBox 40"/>
            <p:cNvSpPr txBox="1"/>
            <p:nvPr/>
          </p:nvSpPr>
          <p:spPr>
            <a:xfrm>
              <a:off x="4466272" y="3244691"/>
              <a:ext cx="789126"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F59E0B"/>
                  </a:solidFill>
                  <a:latin typeface="Arial"/>
                  <a:ea typeface="Microsoft YaHei"/>
                  <a:cs typeface="Arial"/>
                </a:rPr>
                <a:t>05/26 — 05/28</a:t>
              </a:r>
            </a:p>
          </p:txBody>
        </p:sp>
        <p:sp>
          <p:nvSpPr>
            <p:cNvPr id="41" name="TextBox 41"/>
            <p:cNvSpPr txBox="1"/>
            <p:nvPr/>
          </p:nvSpPr>
          <p:spPr>
            <a:xfrm>
              <a:off x="4459605" y="3426142"/>
              <a:ext cx="790384"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需求调研</a:t>
              </a:r>
            </a:p>
          </p:txBody>
        </p:sp>
        <p:sp>
          <p:nvSpPr>
            <p:cNvPr id="42" name="TextBox 42"/>
            <p:cNvSpPr txBox="1"/>
            <p:nvPr/>
          </p:nvSpPr>
          <p:spPr>
            <a:xfrm>
              <a:off x="4464368" y="3704749"/>
              <a:ext cx="2235041"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了解使用需求与期望 · 交付: 调研文档</a:t>
              </a:r>
            </a:p>
          </p:txBody>
        </p:sp>
        <p:sp>
          <p:nvSpPr>
            <p:cNvPr id="43" name="Rectangle 43"/>
            <p:cNvSpPr/>
            <p:nvPr/>
          </p:nvSpPr>
          <p:spPr>
            <a:xfrm>
              <a:off x="4476750" y="4000500"/>
              <a:ext cx="571500" cy="209550"/>
            </a:xfrm>
            <a:prstGeom prst="roundRect">
              <a:avLst>
                <a:gd name="adj" fmla="val 18182"/>
              </a:avLst>
            </a:prstGeom>
            <a:solidFill>
              <a:srgbClr val="EBF0FD"/>
            </a:solidFill>
            <a:ln>
              <a:noFill/>
            </a:ln>
            <a:effectLst>
              <a:outerShdw blurRad="57150" dist="9525" dir="5400000" algn="ctr" rotWithShape="0">
                <a:srgbClr val="0F172A">
                  <a:alpha val="3750"/>
                </a:srgbClr>
              </a:outerShdw>
            </a:effectLst>
          </p:spPr>
        </p:sp>
        <p:sp>
          <p:nvSpPr>
            <p:cNvPr id="44" name="TextBox 44"/>
            <p:cNvSpPr txBox="1"/>
            <p:nvPr/>
          </p:nvSpPr>
          <p:spPr>
            <a:xfrm>
              <a:off x="4642009" y="4063841"/>
              <a:ext cx="24098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2563EB"/>
                  </a:solidFill>
                  <a:latin typeface="Arial"/>
                  <a:ea typeface="Microsoft YaHei"/>
                  <a:cs typeface="Arial"/>
                </a:rPr>
                <a:t>乙方</a:t>
              </a:r>
            </a:p>
          </p:txBody>
        </p:sp>
        <p:sp>
          <p:nvSpPr>
            <p:cNvPr id="45" name="Rectangle 45"/>
            <p:cNvSpPr/>
            <p:nvPr/>
          </p:nvSpPr>
          <p:spPr>
            <a:xfrm>
              <a:off x="8001000" y="2952750"/>
              <a:ext cx="3619500" cy="1524000"/>
            </a:xfrm>
            <a:prstGeom prst="roundRect">
              <a:avLst>
                <a:gd name="adj" fmla="val 6250"/>
              </a:avLst>
            </a:prstGeom>
            <a:solidFill>
              <a:srgbClr val="FFFFFF"/>
            </a:solidFill>
            <a:ln w="19050">
              <a:solidFill>
                <a:srgbClr val="7C3AED"/>
              </a:solidFill>
            </a:ln>
            <a:effectLst>
              <a:outerShdw blurRad="57150" dist="9525" dir="5400000" algn="ctr" rotWithShape="0">
                <a:srgbClr val="0F172A">
                  <a:alpha val="3750"/>
                </a:srgbClr>
              </a:outerShdw>
            </a:effectLst>
          </p:spPr>
        </p:sp>
        <p:sp>
          <p:nvSpPr>
            <p:cNvPr id="46" name="Rectangle 46"/>
            <p:cNvSpPr/>
            <p:nvPr/>
          </p:nvSpPr>
          <p:spPr>
            <a:xfrm>
              <a:off x="8001000" y="2952750"/>
              <a:ext cx="3619500" cy="47625"/>
            </a:xfrm>
            <a:prstGeom prst="roundRect">
              <a:avLst>
                <a:gd name="adj" fmla="val 40000"/>
              </a:avLst>
            </a:prstGeom>
            <a:solidFill>
              <a:srgbClr val="7C3AED"/>
            </a:solidFill>
            <a:ln>
              <a:noFill/>
            </a:ln>
            <a:effectLst>
              <a:outerShdw blurRad="57150" dist="9525" dir="5400000" algn="ctr" rotWithShape="0">
                <a:srgbClr val="0F172A">
                  <a:alpha val="3750"/>
                </a:srgbClr>
              </a:outerShdw>
            </a:effectLst>
          </p:spPr>
        </p:sp>
        <p:sp>
          <p:nvSpPr>
            <p:cNvPr id="47" name="TextBox 47"/>
            <p:cNvSpPr txBox="1"/>
            <p:nvPr/>
          </p:nvSpPr>
          <p:spPr>
            <a:xfrm>
              <a:off x="8181022" y="3244691"/>
              <a:ext cx="338620"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7C3AED"/>
                  </a:solidFill>
                  <a:latin typeface="Arial"/>
                  <a:ea typeface="Microsoft YaHei"/>
                  <a:cs typeface="Arial"/>
                </a:rPr>
                <a:t>05/29</a:t>
              </a:r>
            </a:p>
          </p:txBody>
        </p:sp>
        <p:sp>
          <p:nvSpPr>
            <p:cNvPr id="48" name="TextBox 48"/>
            <p:cNvSpPr txBox="1"/>
            <p:nvPr/>
          </p:nvSpPr>
          <p:spPr>
            <a:xfrm>
              <a:off x="8174355" y="3426142"/>
              <a:ext cx="1763856"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项目启动会 🔷 里程碑</a:t>
              </a:r>
            </a:p>
          </p:txBody>
        </p:sp>
        <p:sp>
          <p:nvSpPr>
            <p:cNvPr id="49" name="TextBox 49"/>
            <p:cNvSpPr txBox="1"/>
            <p:nvPr/>
          </p:nvSpPr>
          <p:spPr>
            <a:xfrm>
              <a:off x="8179118" y="3704749"/>
              <a:ext cx="1584960"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确认项目目标、范围、计划</a:t>
              </a:r>
            </a:p>
          </p:txBody>
        </p:sp>
        <p:sp>
          <p:nvSpPr>
            <p:cNvPr id="50" name="Rectangle 50"/>
            <p:cNvSpPr/>
            <p:nvPr/>
          </p:nvSpPr>
          <p:spPr>
            <a:xfrm>
              <a:off x="8191500" y="4000500"/>
              <a:ext cx="571500" cy="209550"/>
            </a:xfrm>
            <a:prstGeom prst="roundRect">
              <a:avLst>
                <a:gd name="adj" fmla="val 18182"/>
              </a:avLst>
            </a:prstGeom>
            <a:solidFill>
              <a:srgbClr val="EDE9FE"/>
            </a:solidFill>
            <a:ln>
              <a:noFill/>
            </a:ln>
            <a:effectLst>
              <a:outerShdw blurRad="57150" dist="9525" dir="5400000" algn="ctr" rotWithShape="0">
                <a:srgbClr val="0F172A">
                  <a:alpha val="3750"/>
                </a:srgbClr>
              </a:outerShdw>
            </a:effectLst>
          </p:spPr>
        </p:sp>
        <p:sp>
          <p:nvSpPr>
            <p:cNvPr id="51" name="TextBox 51"/>
            <p:cNvSpPr txBox="1"/>
            <p:nvPr/>
          </p:nvSpPr>
          <p:spPr>
            <a:xfrm>
              <a:off x="8356759" y="4063841"/>
              <a:ext cx="24098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ctr"/>
              <a:r>
                <a:rPr lang="zh-CN" sz="825" dirty="0">
                  <a:solidFill>
                    <a:srgbClr val="7C3AED"/>
                  </a:solidFill>
                  <a:latin typeface="Arial"/>
                  <a:ea typeface="Microsoft YaHei"/>
                  <a:cs typeface="Arial"/>
                </a:rPr>
                <a:t>双方</a:t>
              </a:r>
            </a:p>
          </p:txBody>
        </p:sp>
      </p:grpSp>
      <p:grpSp>
        <p:nvGrpSpPr>
          <p:cNvPr id="68" name="Group 68"/>
          <p:cNvGrpSpPr/>
          <p:nvPr/>
        </p:nvGrpSpPr>
        <p:grpSpPr>
          <a:xfrm>
            <a:off x="571500" y="4667250"/>
            <a:ext cx="11049000" cy="1333500"/>
            <a:chOff x="571500" y="4667250"/>
            <a:chExt cx="11049000" cy="1333500"/>
          </a:xfrm>
          <a:effectLst>
            <a:outerShdw blurRad="57150" dist="9525" dir="5400000" algn="ctr" rotWithShape="0">
              <a:srgbClr val="0F172A">
                <a:alpha val="3750"/>
              </a:srgbClr>
            </a:outerShdw>
          </a:effectLst>
        </p:grpSpPr>
        <p:sp>
          <p:nvSpPr>
            <p:cNvPr id="53" name="Rectangle 53"/>
            <p:cNvSpPr/>
            <p:nvPr/>
          </p:nvSpPr>
          <p:spPr>
            <a:xfrm>
              <a:off x="571500" y="4667250"/>
              <a:ext cx="3524250" cy="1333500"/>
            </a:xfrm>
            <a:prstGeom prst="roundRect">
              <a:avLst>
                <a:gd name="adj" fmla="val 7143"/>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54" name="Rectangle 54"/>
            <p:cNvSpPr/>
            <p:nvPr/>
          </p:nvSpPr>
          <p:spPr>
            <a:xfrm>
              <a:off x="571500" y="4667250"/>
              <a:ext cx="3524250" cy="47625"/>
            </a:xfrm>
            <a:prstGeom prst="roundRect">
              <a:avLst>
                <a:gd name="adj" fmla="val 40000"/>
              </a:avLst>
            </a:prstGeom>
            <a:solidFill>
              <a:srgbClr val="10B981"/>
            </a:solidFill>
            <a:ln>
              <a:noFill/>
            </a:ln>
            <a:effectLst>
              <a:outerShdw blurRad="57150" dist="9525" dir="5400000" algn="ctr" rotWithShape="0">
                <a:srgbClr val="0F172A">
                  <a:alpha val="3750"/>
                </a:srgbClr>
              </a:outerShdw>
            </a:effectLst>
          </p:spPr>
        </p:sp>
        <p:sp>
          <p:nvSpPr>
            <p:cNvPr id="55" name="TextBox 55"/>
            <p:cNvSpPr txBox="1"/>
            <p:nvPr/>
          </p:nvSpPr>
          <p:spPr>
            <a:xfrm>
              <a:off x="751522" y="4911566"/>
              <a:ext cx="789126"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10B981"/>
                  </a:solidFill>
                  <a:latin typeface="Arial"/>
                  <a:ea typeface="Microsoft YaHei"/>
                  <a:cs typeface="Arial"/>
                </a:rPr>
                <a:t>05/29 — 06/02</a:t>
              </a:r>
            </a:p>
          </p:txBody>
        </p:sp>
        <p:sp>
          <p:nvSpPr>
            <p:cNvPr id="56" name="TextBox 56"/>
            <p:cNvSpPr txBox="1"/>
            <p:nvPr/>
          </p:nvSpPr>
          <p:spPr>
            <a:xfrm>
              <a:off x="744855" y="5073968"/>
              <a:ext cx="1168432"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系统方案输出</a:t>
              </a:r>
            </a:p>
          </p:txBody>
        </p:sp>
        <p:sp>
          <p:nvSpPr>
            <p:cNvPr id="57" name="TextBox 57"/>
            <p:cNvSpPr txBox="1"/>
            <p:nvPr/>
          </p:nvSpPr>
          <p:spPr>
            <a:xfrm>
              <a:off x="749618" y="5323999"/>
              <a:ext cx="2365058"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根据调研输出系统方案 · 交付: 方案文档</a:t>
              </a:r>
            </a:p>
          </p:txBody>
        </p:sp>
        <p:sp>
          <p:nvSpPr>
            <p:cNvPr id="58" name="Rectangle 58"/>
            <p:cNvSpPr/>
            <p:nvPr/>
          </p:nvSpPr>
          <p:spPr>
            <a:xfrm>
              <a:off x="4286250" y="4667250"/>
              <a:ext cx="3524250" cy="1333500"/>
            </a:xfrm>
            <a:prstGeom prst="roundRect">
              <a:avLst>
                <a:gd name="adj" fmla="val 7143"/>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59" name="Rectangle 59"/>
            <p:cNvSpPr/>
            <p:nvPr/>
          </p:nvSpPr>
          <p:spPr>
            <a:xfrm>
              <a:off x="4286250" y="4667250"/>
              <a:ext cx="3524250" cy="47625"/>
            </a:xfrm>
            <a:prstGeom prst="roundRect">
              <a:avLst>
                <a:gd name="adj" fmla="val 40000"/>
              </a:avLst>
            </a:prstGeom>
            <a:solidFill>
              <a:srgbClr val="10B981"/>
            </a:solidFill>
            <a:ln>
              <a:noFill/>
            </a:ln>
            <a:effectLst>
              <a:outerShdw blurRad="57150" dist="9525" dir="5400000" algn="ctr" rotWithShape="0">
                <a:srgbClr val="0F172A">
                  <a:alpha val="3750"/>
                </a:srgbClr>
              </a:outerShdw>
            </a:effectLst>
          </p:spPr>
        </p:sp>
        <p:sp>
          <p:nvSpPr>
            <p:cNvPr id="60" name="TextBox 60"/>
            <p:cNvSpPr txBox="1"/>
            <p:nvPr/>
          </p:nvSpPr>
          <p:spPr>
            <a:xfrm>
              <a:off x="4466272" y="4911566"/>
              <a:ext cx="760247"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10B981"/>
                  </a:solidFill>
                  <a:latin typeface="Arial"/>
                  <a:ea typeface="Microsoft YaHei"/>
                  <a:cs typeface="Arial"/>
                </a:rPr>
                <a:t>06/01 — 06/05</a:t>
              </a:r>
            </a:p>
          </p:txBody>
        </p:sp>
        <p:sp>
          <p:nvSpPr>
            <p:cNvPr id="61" name="TextBox 61"/>
            <p:cNvSpPr txBox="1"/>
            <p:nvPr/>
          </p:nvSpPr>
          <p:spPr>
            <a:xfrm>
              <a:off x="4459605" y="5073968"/>
              <a:ext cx="1168432"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系统权限收集</a:t>
              </a:r>
            </a:p>
          </p:txBody>
        </p:sp>
        <p:sp>
          <p:nvSpPr>
            <p:cNvPr id="62" name="TextBox 62"/>
            <p:cNvSpPr txBox="1"/>
            <p:nvPr/>
          </p:nvSpPr>
          <p:spPr>
            <a:xfrm>
              <a:off x="4464368" y="5323999"/>
              <a:ext cx="1714976"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提供权限模板 · 交付: 权限表</a:t>
              </a:r>
            </a:p>
          </p:txBody>
        </p:sp>
        <p:sp>
          <p:nvSpPr>
            <p:cNvPr id="63" name="Rectangle 63"/>
            <p:cNvSpPr/>
            <p:nvPr/>
          </p:nvSpPr>
          <p:spPr>
            <a:xfrm>
              <a:off x="8001000" y="4667250"/>
              <a:ext cx="3619500" cy="1333500"/>
            </a:xfrm>
            <a:prstGeom prst="roundRect">
              <a:avLst>
                <a:gd name="adj" fmla="val 7143"/>
              </a:avLst>
            </a:prstGeom>
            <a:solidFill>
              <a:srgbClr val="FFFFFF"/>
            </a:solidFill>
            <a:ln w="19050">
              <a:solidFill>
                <a:srgbClr val="7C3AED"/>
              </a:solidFill>
            </a:ln>
            <a:effectLst>
              <a:outerShdw blurRad="57150" dist="9525" dir="5400000" algn="ctr" rotWithShape="0">
                <a:srgbClr val="0F172A">
                  <a:alpha val="3750"/>
                </a:srgbClr>
              </a:outerShdw>
            </a:effectLst>
          </p:spPr>
        </p:sp>
        <p:sp>
          <p:nvSpPr>
            <p:cNvPr id="64" name="Rectangle 64"/>
            <p:cNvSpPr/>
            <p:nvPr/>
          </p:nvSpPr>
          <p:spPr>
            <a:xfrm>
              <a:off x="8001000" y="4667250"/>
              <a:ext cx="3619500" cy="47625"/>
            </a:xfrm>
            <a:prstGeom prst="roundRect">
              <a:avLst>
                <a:gd name="adj" fmla="val 40000"/>
              </a:avLst>
            </a:prstGeom>
            <a:solidFill>
              <a:srgbClr val="7C3AED"/>
            </a:solidFill>
            <a:ln>
              <a:noFill/>
            </a:ln>
            <a:effectLst>
              <a:outerShdw blurRad="57150" dist="9525" dir="5400000" algn="ctr" rotWithShape="0">
                <a:srgbClr val="0F172A">
                  <a:alpha val="3750"/>
                </a:srgbClr>
              </a:outerShdw>
            </a:effectLst>
          </p:spPr>
        </p:sp>
        <p:sp>
          <p:nvSpPr>
            <p:cNvPr id="65" name="TextBox 65"/>
            <p:cNvSpPr txBox="1"/>
            <p:nvPr/>
          </p:nvSpPr>
          <p:spPr>
            <a:xfrm>
              <a:off x="8181022" y="4911566"/>
              <a:ext cx="1239632" cy="16764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825" b="1" dirty="0">
                  <a:solidFill>
                    <a:srgbClr val="7C3AED"/>
                  </a:solidFill>
                  <a:latin typeface="Arial"/>
                  <a:ea typeface="Microsoft YaHei"/>
                  <a:cs typeface="Arial"/>
                </a:rPr>
                <a:t>06/03 — 06/12 🔷 里程碑</a:t>
              </a:r>
            </a:p>
          </p:txBody>
        </p:sp>
        <p:sp>
          <p:nvSpPr>
            <p:cNvPr id="66" name="TextBox 66"/>
            <p:cNvSpPr txBox="1"/>
            <p:nvPr/>
          </p:nvSpPr>
          <p:spPr>
            <a:xfrm>
              <a:off x="8174355" y="5073968"/>
              <a:ext cx="1168432" cy="2743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1350" b="1" dirty="0">
                  <a:solidFill>
                    <a:srgbClr val="1E293B"/>
                  </a:solidFill>
                  <a:latin typeface="Arial"/>
                  <a:ea typeface="Microsoft YaHei"/>
                  <a:cs typeface="Arial"/>
                </a:rPr>
                <a:t>系统初始配置</a:t>
              </a:r>
            </a:p>
          </p:txBody>
        </p:sp>
        <p:sp>
          <p:nvSpPr>
            <p:cNvPr id="67" name="TextBox 67"/>
            <p:cNvSpPr txBox="1"/>
            <p:nvPr/>
          </p:nvSpPr>
          <p:spPr>
            <a:xfrm>
              <a:off x="8179118" y="5323999"/>
              <a:ext cx="2001012" cy="198120"/>
            </a:xfrm>
            <a:prstGeom prst="rect">
              <a:avLst/>
            </a:prstGeom>
            <a:noFill/>
            <a:ln>
              <a:noFill/>
            </a:ln>
            <a:effectLst>
              <a:outerShdw blurRad="57150" dist="9525" dir="5400000" algn="ctr" rotWithShape="0">
                <a:srgbClr val="0F172A">
                  <a:alpha val="375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字段模版/报表/自动化/权限/成员</a:t>
              </a:r>
            </a:p>
          </p:txBody>
        </p:sp>
      </p:grpSp>
      <p:sp>
        <p:nvSpPr>
          <p:cNvPr id="69" name="Rectangle 69"/>
          <p:cNvSpPr/>
          <p:nvPr/>
        </p:nvSpPr>
        <p:spPr>
          <a:xfrm>
            <a:off x="571500" y="6286500"/>
            <a:ext cx="11049000" cy="9525"/>
          </a:xfrm>
          <a:prstGeom prst="rect">
            <a:avLst/>
          </a:prstGeom>
          <a:solidFill>
            <a:srgbClr val="E2E8F0"/>
          </a:solidFill>
          <a:ln>
            <a:noFill/>
          </a:ln>
        </p:spPr>
      </p:sp>
      <p:sp>
        <p:nvSpPr>
          <p:cNvPr id="70" name="TextBox 70"/>
          <p:cNvSpPr txBox="1"/>
          <p:nvPr/>
        </p:nvSpPr>
        <p:spPr>
          <a:xfrm>
            <a:off x="559118" y="6514624"/>
            <a:ext cx="4523327"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阶段目标: 项目定点 | 输出物: 可行性分析报告、立项报告、系统方案、权限表</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44830" y="249555"/>
            <a:ext cx="3081919" cy="426720"/>
          </a:xfrm>
          <a:prstGeom prst="rect">
            <a:avLst/>
          </a:prstGeom>
          <a:noFill/>
          <a:ln>
            <a:noFill/>
          </a:ln>
        </p:spPr>
        <p:txBody>
          <a:bodyPr wrap="none" lIns="0" tIns="0" rIns="0" bIns="0" anchor="t" anchorCtr="0">
            <a:spAutoFit/>
          </a:bodyPr>
          <a:lstStyle/>
          <a:p>
            <a:pPr algn="l"/>
            <a:r>
              <a:rPr lang="zh-CN" sz="2100" b="1" dirty="0">
                <a:solidFill>
                  <a:srgbClr val="1E293B"/>
                </a:solidFill>
                <a:latin typeface="Arial"/>
                <a:ea typeface="Microsoft YaHei"/>
                <a:cs typeface="Arial"/>
              </a:rPr>
              <a:t>系统试点 → 上线 → 通知</a:t>
            </a:r>
          </a:p>
        </p:txBody>
      </p:sp>
      <p:sp>
        <p:nvSpPr>
          <p:cNvPr id="5" name="TextBox 5"/>
          <p:cNvSpPr txBox="1"/>
          <p:nvPr/>
        </p:nvSpPr>
        <p:spPr>
          <a:xfrm>
            <a:off x="557212" y="621506"/>
            <a:ext cx="2458879"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阶段2-4 · 2026年6月15日 — 6月30日</a:t>
            </a:r>
          </a:p>
        </p:txBody>
      </p:sp>
      <p:sp>
        <p:nvSpPr>
          <p:cNvPr id="6" name="TextBox 6"/>
          <p:cNvSpPr txBox="1"/>
          <p:nvPr/>
        </p:nvSpPr>
        <p:spPr>
          <a:xfrm>
            <a:off x="11393591" y="370999"/>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P05</a:t>
            </a:r>
          </a:p>
        </p:txBody>
      </p:sp>
      <p:sp>
        <p:nvSpPr>
          <p:cNvPr id="7" name="Rectangle 7"/>
          <p:cNvSpPr/>
          <p:nvPr/>
        </p:nvSpPr>
        <p:spPr>
          <a:xfrm>
            <a:off x="571500" y="1047750"/>
            <a:ext cx="3619500" cy="5429250"/>
          </a:xfrm>
          <a:prstGeom prst="roundRect">
            <a:avLst>
              <a:gd name="adj" fmla="val 3158"/>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8" name="Rectangle 8"/>
          <p:cNvSpPr/>
          <p:nvPr/>
        </p:nvSpPr>
        <p:spPr>
          <a:xfrm>
            <a:off x="571500" y="1047750"/>
            <a:ext cx="3619500" cy="47625"/>
          </a:xfrm>
          <a:prstGeom prst="roundRect">
            <a:avLst>
              <a:gd name="adj" fmla="val 40000"/>
            </a:avLst>
          </a:prstGeom>
          <a:solidFill>
            <a:srgbClr val="10B981"/>
          </a:solidFill>
          <a:ln>
            <a:noFill/>
          </a:ln>
        </p:spPr>
      </p:sp>
      <p:sp>
        <p:nvSpPr>
          <p:cNvPr id="9" name="TextBox 9"/>
          <p:cNvSpPr txBox="1"/>
          <p:nvPr/>
        </p:nvSpPr>
        <p:spPr>
          <a:xfrm>
            <a:off x="836295" y="1203008"/>
            <a:ext cx="1751524" cy="335280"/>
          </a:xfrm>
          <a:prstGeom prst="rect">
            <a:avLst/>
          </a:prstGeom>
          <a:noFill/>
          <a:ln>
            <a:noFill/>
          </a:ln>
        </p:spPr>
        <p:txBody>
          <a:bodyPr wrap="none" lIns="0" tIns="0" rIns="0" bIns="0" anchor="t" anchorCtr="0">
            <a:spAutoFit/>
          </a:bodyPr>
          <a:lstStyle/>
          <a:p>
            <a:pPr algn="l"/>
            <a:r>
              <a:rPr lang="zh-CN" sz="1650" b="1" dirty="0">
                <a:solidFill>
                  <a:srgbClr val="1E293B"/>
                </a:solidFill>
                <a:latin typeface="Arial"/>
                <a:ea typeface="Microsoft YaHei"/>
                <a:cs typeface="Arial"/>
              </a:rPr>
              <a:t>阶段2: 系统试点</a:t>
            </a:r>
          </a:p>
        </p:txBody>
      </p:sp>
      <p:sp>
        <p:nvSpPr>
          <p:cNvPr id="10" name="TextBox 10"/>
          <p:cNvSpPr txBox="1"/>
          <p:nvPr/>
        </p:nvSpPr>
        <p:spPr>
          <a:xfrm>
            <a:off x="844868" y="1513999"/>
            <a:ext cx="748305" cy="198120"/>
          </a:xfrm>
          <a:prstGeom prst="rect">
            <a:avLst/>
          </a:prstGeom>
          <a:noFill/>
          <a:ln>
            <a:noFill/>
          </a:ln>
        </p:spPr>
        <p:txBody>
          <a:bodyPr wrap="none" lIns="0" tIns="0" rIns="0" bIns="0" anchor="t" anchorCtr="0">
            <a:spAutoFit/>
          </a:bodyPr>
          <a:lstStyle/>
          <a:p>
            <a:pPr algn="l"/>
            <a:r>
              <a:rPr lang="zh-CN" sz="975" b="1" dirty="0">
                <a:solidFill>
                  <a:srgbClr val="10B981"/>
                </a:solidFill>
                <a:latin typeface="Arial"/>
                <a:ea typeface="Microsoft YaHei"/>
                <a:cs typeface="Arial"/>
              </a:rPr>
              <a:t>6/15 — 6/26</a:t>
            </a:r>
          </a:p>
        </p:txBody>
      </p:sp>
      <p:sp>
        <p:nvSpPr>
          <p:cNvPr id="11" name="Rectangle 11"/>
          <p:cNvSpPr/>
          <p:nvPr/>
        </p:nvSpPr>
        <p:spPr>
          <a:xfrm>
            <a:off x="762000" y="1809750"/>
            <a:ext cx="3238500" cy="9525"/>
          </a:xfrm>
          <a:prstGeom prst="rect">
            <a:avLst/>
          </a:prstGeom>
          <a:solidFill>
            <a:srgbClr val="E2E8F0"/>
          </a:solidFill>
          <a:ln>
            <a:noFill/>
          </a:ln>
        </p:spPr>
      </p:sp>
      <p:sp>
        <p:nvSpPr>
          <p:cNvPr id="12" name="Rectangle 12"/>
          <p:cNvSpPr/>
          <p:nvPr/>
        </p:nvSpPr>
        <p:spPr>
          <a:xfrm>
            <a:off x="762000" y="1952625"/>
            <a:ext cx="3238500" cy="809625"/>
          </a:xfrm>
          <a:prstGeom prst="roundRect">
            <a:avLst>
              <a:gd name="adj" fmla="val 9412"/>
            </a:avLst>
          </a:prstGeom>
          <a:solidFill>
            <a:srgbClr val="F8FAFC"/>
          </a:solidFill>
          <a:ln>
            <a:noFill/>
          </a:ln>
        </p:spPr>
      </p:sp>
      <p:sp>
        <p:nvSpPr>
          <p:cNvPr id="13" name="Ellipse 13"/>
          <p:cNvSpPr/>
          <p:nvPr/>
        </p:nvSpPr>
        <p:spPr>
          <a:xfrm>
            <a:off x="914400" y="2228850"/>
            <a:ext cx="76200" cy="76200"/>
          </a:xfrm>
          <a:prstGeom prst="ellipse">
            <a:avLst/>
          </a:prstGeom>
          <a:solidFill>
            <a:srgbClr val="10B981"/>
          </a:solidFill>
          <a:ln>
            <a:noFill/>
          </a:ln>
        </p:spPr>
      </p:sp>
      <p:sp>
        <p:nvSpPr>
          <p:cNvPr id="14" name="TextBox 14"/>
          <p:cNvSpPr txBox="1"/>
          <p:nvPr/>
        </p:nvSpPr>
        <p:spPr>
          <a:xfrm>
            <a:off x="1080135" y="2089785"/>
            <a:ext cx="1038606"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系统试点培训</a:t>
            </a:r>
          </a:p>
        </p:txBody>
      </p:sp>
      <p:sp>
        <p:nvSpPr>
          <p:cNvPr id="15" name="TextBox 15"/>
          <p:cNvSpPr txBox="1"/>
          <p:nvPr/>
        </p:nvSpPr>
        <p:spPr>
          <a:xfrm>
            <a:off x="1082992" y="2323624"/>
            <a:ext cx="170197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讲解基础功能 · 6/15 · 0.5天</a:t>
            </a:r>
          </a:p>
        </p:txBody>
      </p:sp>
      <p:sp>
        <p:nvSpPr>
          <p:cNvPr id="16" name="TextBox 16"/>
          <p:cNvSpPr txBox="1"/>
          <p:nvPr/>
        </p:nvSpPr>
        <p:spPr>
          <a:xfrm>
            <a:off x="1083945" y="2522220"/>
            <a:ext cx="74295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关键用户参与</a:t>
            </a:r>
          </a:p>
        </p:txBody>
      </p:sp>
      <p:sp>
        <p:nvSpPr>
          <p:cNvPr id="17" name="Rectangle 17"/>
          <p:cNvSpPr/>
          <p:nvPr/>
        </p:nvSpPr>
        <p:spPr>
          <a:xfrm>
            <a:off x="762000" y="2857500"/>
            <a:ext cx="3238500" cy="809625"/>
          </a:xfrm>
          <a:prstGeom prst="roundRect">
            <a:avLst>
              <a:gd name="adj" fmla="val 9412"/>
            </a:avLst>
          </a:prstGeom>
          <a:solidFill>
            <a:srgbClr val="F8FAFC"/>
          </a:solidFill>
          <a:ln>
            <a:noFill/>
          </a:ln>
        </p:spPr>
      </p:sp>
      <p:sp>
        <p:nvSpPr>
          <p:cNvPr id="18" name="Ellipse 18"/>
          <p:cNvSpPr/>
          <p:nvPr/>
        </p:nvSpPr>
        <p:spPr>
          <a:xfrm>
            <a:off x="914400" y="3133725"/>
            <a:ext cx="76200" cy="76200"/>
          </a:xfrm>
          <a:prstGeom prst="ellipse">
            <a:avLst/>
          </a:prstGeom>
          <a:solidFill>
            <a:srgbClr val="10B981"/>
          </a:solidFill>
          <a:ln>
            <a:noFill/>
          </a:ln>
        </p:spPr>
      </p:sp>
      <p:sp>
        <p:nvSpPr>
          <p:cNvPr id="19" name="TextBox 19"/>
          <p:cNvSpPr txBox="1"/>
          <p:nvPr/>
        </p:nvSpPr>
        <p:spPr>
          <a:xfrm>
            <a:off x="1080135" y="2994660"/>
            <a:ext cx="1038606"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提供使用手册</a:t>
            </a:r>
          </a:p>
        </p:txBody>
      </p:sp>
      <p:sp>
        <p:nvSpPr>
          <p:cNvPr id="20" name="TextBox 20"/>
          <p:cNvSpPr txBox="1"/>
          <p:nvPr/>
        </p:nvSpPr>
        <p:spPr>
          <a:xfrm>
            <a:off x="1082992" y="3228499"/>
            <a:ext cx="147444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标准功能用户手册 · 远程</a:t>
            </a:r>
          </a:p>
        </p:txBody>
      </p:sp>
      <p:sp>
        <p:nvSpPr>
          <p:cNvPr id="21" name="TextBox 21"/>
          <p:cNvSpPr txBox="1"/>
          <p:nvPr/>
        </p:nvSpPr>
        <p:spPr>
          <a:xfrm>
            <a:off x="1083945" y="3427095"/>
            <a:ext cx="84496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交付: 用户手册</a:t>
            </a:r>
          </a:p>
        </p:txBody>
      </p:sp>
      <p:sp>
        <p:nvSpPr>
          <p:cNvPr id="22" name="Rectangle 22"/>
          <p:cNvSpPr/>
          <p:nvPr/>
        </p:nvSpPr>
        <p:spPr>
          <a:xfrm>
            <a:off x="762000" y="3762375"/>
            <a:ext cx="3238500" cy="809625"/>
          </a:xfrm>
          <a:prstGeom prst="roundRect">
            <a:avLst>
              <a:gd name="adj" fmla="val 9412"/>
            </a:avLst>
          </a:prstGeom>
          <a:solidFill>
            <a:srgbClr val="F8FAFC"/>
          </a:solidFill>
          <a:ln>
            <a:noFill/>
          </a:ln>
        </p:spPr>
      </p:sp>
      <p:sp>
        <p:nvSpPr>
          <p:cNvPr id="23" name="Ellipse 23"/>
          <p:cNvSpPr/>
          <p:nvPr/>
        </p:nvSpPr>
        <p:spPr>
          <a:xfrm>
            <a:off x="914400" y="4038600"/>
            <a:ext cx="76200" cy="76200"/>
          </a:xfrm>
          <a:prstGeom prst="ellipse">
            <a:avLst/>
          </a:prstGeom>
          <a:solidFill>
            <a:srgbClr val="10B981"/>
          </a:solidFill>
          <a:ln>
            <a:noFill/>
          </a:ln>
        </p:spPr>
      </p:sp>
      <p:sp>
        <p:nvSpPr>
          <p:cNvPr id="24" name="TextBox 24"/>
          <p:cNvSpPr txBox="1"/>
          <p:nvPr/>
        </p:nvSpPr>
        <p:spPr>
          <a:xfrm>
            <a:off x="1080135" y="3899535"/>
            <a:ext cx="870585"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系统试运行</a:t>
            </a:r>
          </a:p>
        </p:txBody>
      </p:sp>
      <p:sp>
        <p:nvSpPr>
          <p:cNvPr id="25" name="TextBox 25"/>
          <p:cNvSpPr txBox="1"/>
          <p:nvPr/>
        </p:nvSpPr>
        <p:spPr>
          <a:xfrm>
            <a:off x="1082992" y="4133374"/>
            <a:ext cx="145494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协助各业务部门试点验证</a:t>
            </a:r>
          </a:p>
        </p:txBody>
      </p:sp>
      <p:sp>
        <p:nvSpPr>
          <p:cNvPr id="26" name="TextBox 26"/>
          <p:cNvSpPr txBox="1"/>
          <p:nvPr/>
        </p:nvSpPr>
        <p:spPr>
          <a:xfrm>
            <a:off x="1083945" y="4331970"/>
            <a:ext cx="132502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工时: 10天 · 可自由决定</a:t>
            </a:r>
          </a:p>
        </p:txBody>
      </p:sp>
      <p:sp>
        <p:nvSpPr>
          <p:cNvPr id="27" name="Rectangle 27"/>
          <p:cNvSpPr/>
          <p:nvPr/>
        </p:nvSpPr>
        <p:spPr>
          <a:xfrm>
            <a:off x="762000" y="4667250"/>
            <a:ext cx="3238500" cy="809625"/>
          </a:xfrm>
          <a:prstGeom prst="roundRect">
            <a:avLst>
              <a:gd name="adj" fmla="val 9412"/>
            </a:avLst>
          </a:prstGeom>
          <a:solidFill>
            <a:srgbClr val="F8FAFC"/>
          </a:solidFill>
          <a:ln>
            <a:noFill/>
          </a:ln>
        </p:spPr>
      </p:sp>
      <p:sp>
        <p:nvSpPr>
          <p:cNvPr id="28" name="Ellipse 28"/>
          <p:cNvSpPr/>
          <p:nvPr/>
        </p:nvSpPr>
        <p:spPr>
          <a:xfrm>
            <a:off x="914400" y="4943475"/>
            <a:ext cx="76200" cy="76200"/>
          </a:xfrm>
          <a:prstGeom prst="ellipse">
            <a:avLst/>
          </a:prstGeom>
          <a:solidFill>
            <a:srgbClr val="10B981"/>
          </a:solidFill>
          <a:ln>
            <a:noFill/>
          </a:ln>
        </p:spPr>
      </p:sp>
      <p:sp>
        <p:nvSpPr>
          <p:cNvPr id="29" name="TextBox 29"/>
          <p:cNvSpPr txBox="1"/>
          <p:nvPr/>
        </p:nvSpPr>
        <p:spPr>
          <a:xfrm>
            <a:off x="1080135" y="4804410"/>
            <a:ext cx="1206627"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答疑与配置优化</a:t>
            </a:r>
          </a:p>
        </p:txBody>
      </p:sp>
      <p:sp>
        <p:nvSpPr>
          <p:cNvPr id="30" name="TextBox 30"/>
          <p:cNvSpPr txBox="1"/>
          <p:nvPr/>
        </p:nvSpPr>
        <p:spPr>
          <a:xfrm>
            <a:off x="1082992" y="5038249"/>
            <a:ext cx="132492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根据反馈持续优化配置</a:t>
            </a:r>
          </a:p>
        </p:txBody>
      </p:sp>
      <p:sp>
        <p:nvSpPr>
          <p:cNvPr id="31" name="TextBox 31"/>
          <p:cNvSpPr txBox="1"/>
          <p:nvPr/>
        </p:nvSpPr>
        <p:spPr>
          <a:xfrm>
            <a:off x="1083945" y="5236845"/>
            <a:ext cx="86296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跟随试运行同步</a:t>
            </a:r>
          </a:p>
        </p:txBody>
      </p:sp>
      <p:sp>
        <p:nvSpPr>
          <p:cNvPr id="32" name="Rectangle 32"/>
          <p:cNvSpPr/>
          <p:nvPr/>
        </p:nvSpPr>
        <p:spPr>
          <a:xfrm>
            <a:off x="4286250" y="1047750"/>
            <a:ext cx="3619500" cy="5429250"/>
          </a:xfrm>
          <a:prstGeom prst="roundRect">
            <a:avLst>
              <a:gd name="adj" fmla="val 3158"/>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33" name="Rectangle 33"/>
          <p:cNvSpPr/>
          <p:nvPr/>
        </p:nvSpPr>
        <p:spPr>
          <a:xfrm>
            <a:off x="4286250" y="1047750"/>
            <a:ext cx="3619500" cy="47625"/>
          </a:xfrm>
          <a:prstGeom prst="roundRect">
            <a:avLst>
              <a:gd name="adj" fmla="val 40000"/>
            </a:avLst>
          </a:prstGeom>
          <a:solidFill>
            <a:srgbClr val="7C3AED"/>
          </a:solidFill>
          <a:ln>
            <a:noFill/>
          </a:ln>
        </p:spPr>
      </p:sp>
      <p:sp>
        <p:nvSpPr>
          <p:cNvPr id="34" name="TextBox 34"/>
          <p:cNvSpPr txBox="1"/>
          <p:nvPr/>
        </p:nvSpPr>
        <p:spPr>
          <a:xfrm>
            <a:off x="4551045" y="1203008"/>
            <a:ext cx="1751524" cy="335280"/>
          </a:xfrm>
          <a:prstGeom prst="rect">
            <a:avLst/>
          </a:prstGeom>
          <a:noFill/>
          <a:ln>
            <a:noFill/>
          </a:ln>
        </p:spPr>
        <p:txBody>
          <a:bodyPr wrap="none" lIns="0" tIns="0" rIns="0" bIns="0" anchor="t" anchorCtr="0">
            <a:spAutoFit/>
          </a:bodyPr>
          <a:lstStyle/>
          <a:p>
            <a:pPr algn="l"/>
            <a:r>
              <a:rPr lang="zh-CN" sz="1650" b="1" dirty="0">
                <a:solidFill>
                  <a:srgbClr val="1E293B"/>
                </a:solidFill>
                <a:latin typeface="Arial"/>
                <a:ea typeface="Microsoft YaHei"/>
                <a:cs typeface="Arial"/>
              </a:rPr>
              <a:t>阶段3: 系统上线</a:t>
            </a:r>
          </a:p>
        </p:txBody>
      </p:sp>
      <p:sp>
        <p:nvSpPr>
          <p:cNvPr id="35" name="TextBox 35"/>
          <p:cNvSpPr txBox="1"/>
          <p:nvPr/>
        </p:nvSpPr>
        <p:spPr>
          <a:xfrm>
            <a:off x="4559618" y="1513999"/>
            <a:ext cx="782435" cy="198120"/>
          </a:xfrm>
          <a:prstGeom prst="rect">
            <a:avLst/>
          </a:prstGeom>
          <a:noFill/>
          <a:ln>
            <a:noFill/>
          </a:ln>
        </p:spPr>
        <p:txBody>
          <a:bodyPr wrap="none" lIns="0" tIns="0" rIns="0" bIns="0" anchor="t" anchorCtr="0">
            <a:spAutoFit/>
          </a:bodyPr>
          <a:lstStyle/>
          <a:p>
            <a:pPr algn="l"/>
            <a:r>
              <a:rPr lang="zh-CN" sz="975" b="1" dirty="0">
                <a:solidFill>
                  <a:srgbClr val="7C3AED"/>
                </a:solidFill>
                <a:latin typeface="Arial"/>
                <a:ea typeface="Microsoft YaHei"/>
                <a:cs typeface="Arial"/>
              </a:rPr>
              <a:t>6/22 — 6/29</a:t>
            </a:r>
          </a:p>
        </p:txBody>
      </p:sp>
      <p:sp>
        <p:nvSpPr>
          <p:cNvPr id="36" name="Rectangle 36"/>
          <p:cNvSpPr/>
          <p:nvPr/>
        </p:nvSpPr>
        <p:spPr>
          <a:xfrm>
            <a:off x="4476750" y="1809750"/>
            <a:ext cx="3238500" cy="9525"/>
          </a:xfrm>
          <a:prstGeom prst="rect">
            <a:avLst/>
          </a:prstGeom>
          <a:solidFill>
            <a:srgbClr val="E2E8F0"/>
          </a:solidFill>
          <a:ln>
            <a:noFill/>
          </a:ln>
        </p:spPr>
      </p:sp>
      <p:sp>
        <p:nvSpPr>
          <p:cNvPr id="37" name="Rectangle 37"/>
          <p:cNvSpPr/>
          <p:nvPr/>
        </p:nvSpPr>
        <p:spPr>
          <a:xfrm>
            <a:off x="4476750" y="1952625"/>
            <a:ext cx="3238500" cy="904875"/>
          </a:xfrm>
          <a:prstGeom prst="roundRect">
            <a:avLst>
              <a:gd name="adj" fmla="val 8421"/>
            </a:avLst>
          </a:prstGeom>
          <a:solidFill>
            <a:srgbClr val="F8FAFC"/>
          </a:solidFill>
          <a:ln>
            <a:noFill/>
          </a:ln>
        </p:spPr>
      </p:sp>
      <p:sp>
        <p:nvSpPr>
          <p:cNvPr id="38" name="Ellipse 38"/>
          <p:cNvSpPr/>
          <p:nvPr/>
        </p:nvSpPr>
        <p:spPr>
          <a:xfrm>
            <a:off x="4629150" y="2228850"/>
            <a:ext cx="76200" cy="76200"/>
          </a:xfrm>
          <a:prstGeom prst="ellipse">
            <a:avLst/>
          </a:prstGeom>
          <a:solidFill>
            <a:srgbClr val="7C3AED"/>
          </a:solidFill>
          <a:ln>
            <a:noFill/>
          </a:ln>
        </p:spPr>
      </p:sp>
      <p:sp>
        <p:nvSpPr>
          <p:cNvPr id="39" name="TextBox 39"/>
          <p:cNvSpPr txBox="1"/>
          <p:nvPr/>
        </p:nvSpPr>
        <p:spPr>
          <a:xfrm>
            <a:off x="4794885" y="2089785"/>
            <a:ext cx="1038606"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优化使用手册</a:t>
            </a:r>
          </a:p>
        </p:txBody>
      </p:sp>
      <p:sp>
        <p:nvSpPr>
          <p:cNvPr id="40" name="TextBox 40"/>
          <p:cNvSpPr txBox="1"/>
          <p:nvPr/>
        </p:nvSpPr>
        <p:spPr>
          <a:xfrm>
            <a:off x="4797742" y="2323624"/>
            <a:ext cx="171497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按内部流程编写系统使用规范</a:t>
            </a:r>
          </a:p>
        </p:txBody>
      </p:sp>
      <p:sp>
        <p:nvSpPr>
          <p:cNvPr id="41" name="TextBox 41"/>
          <p:cNvSpPr txBox="1"/>
          <p:nvPr/>
        </p:nvSpPr>
        <p:spPr>
          <a:xfrm>
            <a:off x="4797742" y="2514124"/>
            <a:ext cx="74635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6/22 — 6/26</a:t>
            </a:r>
          </a:p>
        </p:txBody>
      </p:sp>
      <p:sp>
        <p:nvSpPr>
          <p:cNvPr id="42" name="TextBox 42"/>
          <p:cNvSpPr txBox="1"/>
          <p:nvPr/>
        </p:nvSpPr>
        <p:spPr>
          <a:xfrm>
            <a:off x="4798695" y="2693670"/>
            <a:ext cx="84496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交付: 使用规范</a:t>
            </a:r>
          </a:p>
        </p:txBody>
      </p:sp>
      <p:sp>
        <p:nvSpPr>
          <p:cNvPr id="43" name="Rectangle 43"/>
          <p:cNvSpPr/>
          <p:nvPr/>
        </p:nvSpPr>
        <p:spPr>
          <a:xfrm>
            <a:off x="4476750" y="2971800"/>
            <a:ext cx="3238500" cy="904875"/>
          </a:xfrm>
          <a:prstGeom prst="roundRect">
            <a:avLst>
              <a:gd name="adj" fmla="val 8421"/>
            </a:avLst>
          </a:prstGeom>
          <a:solidFill>
            <a:srgbClr val="F8FAFC"/>
          </a:solidFill>
          <a:ln>
            <a:noFill/>
          </a:ln>
        </p:spPr>
      </p:sp>
      <p:sp>
        <p:nvSpPr>
          <p:cNvPr id="44" name="Ellipse 44"/>
          <p:cNvSpPr/>
          <p:nvPr/>
        </p:nvSpPr>
        <p:spPr>
          <a:xfrm>
            <a:off x="4629150" y="3248025"/>
            <a:ext cx="76200" cy="76200"/>
          </a:xfrm>
          <a:prstGeom prst="ellipse">
            <a:avLst/>
          </a:prstGeom>
          <a:solidFill>
            <a:srgbClr val="7C3AED"/>
          </a:solidFill>
          <a:ln>
            <a:noFill/>
          </a:ln>
        </p:spPr>
      </p:sp>
      <p:sp>
        <p:nvSpPr>
          <p:cNvPr id="45" name="TextBox 45"/>
          <p:cNvSpPr txBox="1"/>
          <p:nvPr/>
        </p:nvSpPr>
        <p:spPr>
          <a:xfrm>
            <a:off x="4794885" y="3108960"/>
            <a:ext cx="1206627"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系统管理员培训</a:t>
            </a:r>
          </a:p>
        </p:txBody>
      </p:sp>
      <p:sp>
        <p:nvSpPr>
          <p:cNvPr id="46" name="TextBox 46"/>
          <p:cNvSpPr txBox="1"/>
          <p:nvPr/>
        </p:nvSpPr>
        <p:spPr>
          <a:xfrm>
            <a:off x="4797742" y="3342799"/>
            <a:ext cx="186449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培训系统管理员 · 6/29 · 0.5天</a:t>
            </a:r>
          </a:p>
        </p:txBody>
      </p:sp>
      <p:sp>
        <p:nvSpPr>
          <p:cNvPr id="47" name="TextBox 47"/>
          <p:cNvSpPr txBox="1"/>
          <p:nvPr/>
        </p:nvSpPr>
        <p:spPr>
          <a:xfrm>
            <a:off x="4797742" y="3514249"/>
            <a:ext cx="934879"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所有管理员参加</a:t>
            </a:r>
          </a:p>
        </p:txBody>
      </p:sp>
      <p:sp>
        <p:nvSpPr>
          <p:cNvPr id="48" name="TextBox 48"/>
          <p:cNvSpPr txBox="1"/>
          <p:nvPr/>
        </p:nvSpPr>
        <p:spPr>
          <a:xfrm>
            <a:off x="4798695" y="3693795"/>
            <a:ext cx="110299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交付: 签到表 + 录屏</a:t>
            </a:r>
          </a:p>
        </p:txBody>
      </p:sp>
      <p:sp>
        <p:nvSpPr>
          <p:cNvPr id="49" name="Rectangle 49"/>
          <p:cNvSpPr/>
          <p:nvPr/>
        </p:nvSpPr>
        <p:spPr>
          <a:xfrm>
            <a:off x="4476750" y="4000500"/>
            <a:ext cx="3238500" cy="904875"/>
          </a:xfrm>
          <a:prstGeom prst="roundRect">
            <a:avLst>
              <a:gd name="adj" fmla="val 8421"/>
            </a:avLst>
          </a:prstGeom>
          <a:solidFill>
            <a:srgbClr val="F8FAFC"/>
          </a:solidFill>
          <a:ln>
            <a:noFill/>
          </a:ln>
        </p:spPr>
      </p:sp>
      <p:sp>
        <p:nvSpPr>
          <p:cNvPr id="50" name="Ellipse 50"/>
          <p:cNvSpPr/>
          <p:nvPr/>
        </p:nvSpPr>
        <p:spPr>
          <a:xfrm>
            <a:off x="4629150" y="4276725"/>
            <a:ext cx="76200" cy="76200"/>
          </a:xfrm>
          <a:prstGeom prst="ellipse">
            <a:avLst/>
          </a:prstGeom>
          <a:solidFill>
            <a:srgbClr val="7C3AED"/>
          </a:solidFill>
          <a:ln>
            <a:noFill/>
          </a:ln>
        </p:spPr>
      </p:sp>
      <p:sp>
        <p:nvSpPr>
          <p:cNvPr id="51" name="TextBox 51"/>
          <p:cNvSpPr txBox="1"/>
          <p:nvPr/>
        </p:nvSpPr>
        <p:spPr>
          <a:xfrm>
            <a:off x="4794885" y="4137660"/>
            <a:ext cx="1038606"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系统操作培训</a:t>
            </a:r>
          </a:p>
        </p:txBody>
      </p:sp>
      <p:sp>
        <p:nvSpPr>
          <p:cNvPr id="52" name="TextBox 52"/>
          <p:cNvSpPr txBox="1"/>
          <p:nvPr/>
        </p:nvSpPr>
        <p:spPr>
          <a:xfrm>
            <a:off x="4797742" y="4371499"/>
            <a:ext cx="225454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培训所有系统使用人员 · 6/29 · 0.5天</a:t>
            </a:r>
          </a:p>
        </p:txBody>
      </p:sp>
      <p:sp>
        <p:nvSpPr>
          <p:cNvPr id="53" name="TextBox 53"/>
          <p:cNvSpPr txBox="1"/>
          <p:nvPr/>
        </p:nvSpPr>
        <p:spPr>
          <a:xfrm>
            <a:off x="4797742" y="4542949"/>
            <a:ext cx="1844992"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后续可根据情况安排针对性培训</a:t>
            </a:r>
          </a:p>
        </p:txBody>
      </p:sp>
      <p:sp>
        <p:nvSpPr>
          <p:cNvPr id="54" name="TextBox 54"/>
          <p:cNvSpPr txBox="1"/>
          <p:nvPr/>
        </p:nvSpPr>
        <p:spPr>
          <a:xfrm>
            <a:off x="4798695" y="4722495"/>
            <a:ext cx="110299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交付: 签到表 + 录屏</a:t>
            </a:r>
          </a:p>
        </p:txBody>
      </p:sp>
      <p:sp>
        <p:nvSpPr>
          <p:cNvPr id="55" name="Rectangle 55"/>
          <p:cNvSpPr/>
          <p:nvPr/>
        </p:nvSpPr>
        <p:spPr>
          <a:xfrm>
            <a:off x="8001000" y="1047750"/>
            <a:ext cx="3619500" cy="5429250"/>
          </a:xfrm>
          <a:prstGeom prst="roundRect">
            <a:avLst>
              <a:gd name="adj" fmla="val 3158"/>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56" name="Rectangle 56"/>
          <p:cNvSpPr/>
          <p:nvPr/>
        </p:nvSpPr>
        <p:spPr>
          <a:xfrm>
            <a:off x="8001000" y="1047750"/>
            <a:ext cx="3619500" cy="47625"/>
          </a:xfrm>
          <a:prstGeom prst="roundRect">
            <a:avLst>
              <a:gd name="adj" fmla="val 40000"/>
            </a:avLst>
          </a:prstGeom>
          <a:solidFill>
            <a:srgbClr val="F59E0B"/>
          </a:solidFill>
          <a:ln>
            <a:noFill/>
          </a:ln>
        </p:spPr>
      </p:sp>
      <p:sp>
        <p:nvSpPr>
          <p:cNvPr id="57" name="TextBox 57"/>
          <p:cNvSpPr txBox="1"/>
          <p:nvPr/>
        </p:nvSpPr>
        <p:spPr>
          <a:xfrm>
            <a:off x="8265795" y="1203008"/>
            <a:ext cx="1751524" cy="335280"/>
          </a:xfrm>
          <a:prstGeom prst="rect">
            <a:avLst/>
          </a:prstGeom>
          <a:noFill/>
          <a:ln>
            <a:noFill/>
          </a:ln>
        </p:spPr>
        <p:txBody>
          <a:bodyPr wrap="none" lIns="0" tIns="0" rIns="0" bIns="0" anchor="t" anchorCtr="0">
            <a:spAutoFit/>
          </a:bodyPr>
          <a:lstStyle/>
          <a:p>
            <a:pPr algn="l"/>
            <a:r>
              <a:rPr lang="zh-CN" sz="1650" b="1" dirty="0">
                <a:solidFill>
                  <a:srgbClr val="1E293B"/>
                </a:solidFill>
                <a:latin typeface="Arial"/>
                <a:ea typeface="Microsoft YaHei"/>
                <a:cs typeface="Arial"/>
              </a:rPr>
              <a:t>阶段4: 上线通知</a:t>
            </a:r>
          </a:p>
        </p:txBody>
      </p:sp>
      <p:sp>
        <p:nvSpPr>
          <p:cNvPr id="58" name="TextBox 58"/>
          <p:cNvSpPr txBox="1"/>
          <p:nvPr/>
        </p:nvSpPr>
        <p:spPr>
          <a:xfrm>
            <a:off x="8274368" y="1513999"/>
            <a:ext cx="523052"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a:ea typeface="Microsoft YaHei"/>
                <a:cs typeface="Arial"/>
              </a:rPr>
              <a:t>6月30日</a:t>
            </a:r>
          </a:p>
        </p:txBody>
      </p:sp>
      <p:sp>
        <p:nvSpPr>
          <p:cNvPr id="59" name="Rectangle 59"/>
          <p:cNvSpPr/>
          <p:nvPr/>
        </p:nvSpPr>
        <p:spPr>
          <a:xfrm>
            <a:off x="8191500" y="1809750"/>
            <a:ext cx="3238500" cy="9525"/>
          </a:xfrm>
          <a:prstGeom prst="rect">
            <a:avLst/>
          </a:prstGeom>
          <a:solidFill>
            <a:srgbClr val="E2E8F0"/>
          </a:solidFill>
          <a:ln>
            <a:noFill/>
          </a:ln>
        </p:spPr>
      </p:sp>
      <p:sp>
        <p:nvSpPr>
          <p:cNvPr id="60" name="Rectangle 60"/>
          <p:cNvSpPr/>
          <p:nvPr/>
        </p:nvSpPr>
        <p:spPr>
          <a:xfrm>
            <a:off x="8191500" y="1952625"/>
            <a:ext cx="3238500" cy="809625"/>
          </a:xfrm>
          <a:prstGeom prst="roundRect">
            <a:avLst>
              <a:gd name="adj" fmla="val 9412"/>
            </a:avLst>
          </a:prstGeom>
          <a:solidFill>
            <a:srgbClr val="F8FAFC"/>
          </a:solidFill>
          <a:ln>
            <a:noFill/>
          </a:ln>
        </p:spPr>
      </p:sp>
      <p:sp>
        <p:nvSpPr>
          <p:cNvPr id="61" name="Ellipse 61"/>
          <p:cNvSpPr/>
          <p:nvPr/>
        </p:nvSpPr>
        <p:spPr>
          <a:xfrm>
            <a:off x="8343900" y="2228850"/>
            <a:ext cx="76200" cy="76200"/>
          </a:xfrm>
          <a:prstGeom prst="ellipse">
            <a:avLst/>
          </a:prstGeom>
          <a:solidFill>
            <a:srgbClr val="F59E0B"/>
          </a:solidFill>
          <a:ln>
            <a:noFill/>
          </a:ln>
        </p:spPr>
      </p:sp>
      <p:sp>
        <p:nvSpPr>
          <p:cNvPr id="62" name="TextBox 62"/>
          <p:cNvSpPr txBox="1"/>
          <p:nvPr/>
        </p:nvSpPr>
        <p:spPr>
          <a:xfrm>
            <a:off x="8509635" y="2089785"/>
            <a:ext cx="702564"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业务通知</a:t>
            </a:r>
          </a:p>
        </p:txBody>
      </p:sp>
      <p:sp>
        <p:nvSpPr>
          <p:cNvPr id="63" name="TextBox 63"/>
          <p:cNvSpPr txBox="1"/>
          <p:nvPr/>
        </p:nvSpPr>
        <p:spPr>
          <a:xfrm>
            <a:off x="8512492" y="2323624"/>
            <a:ext cx="171497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通知团队系统切换时间及影响</a:t>
            </a:r>
          </a:p>
        </p:txBody>
      </p:sp>
      <p:sp>
        <p:nvSpPr>
          <p:cNvPr id="64" name="TextBox 64"/>
          <p:cNvSpPr txBox="1"/>
          <p:nvPr/>
        </p:nvSpPr>
        <p:spPr>
          <a:xfrm>
            <a:off x="8512492" y="2514124"/>
            <a:ext cx="804862"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甲方主导通知</a:t>
            </a:r>
          </a:p>
        </p:txBody>
      </p:sp>
      <p:sp>
        <p:nvSpPr>
          <p:cNvPr id="65" name="Rectangle 65"/>
          <p:cNvSpPr/>
          <p:nvPr/>
        </p:nvSpPr>
        <p:spPr>
          <a:xfrm>
            <a:off x="8191500" y="3048000"/>
            <a:ext cx="3238500" cy="1143000"/>
          </a:xfrm>
          <a:prstGeom prst="roundRect">
            <a:avLst>
              <a:gd name="adj" fmla="val 8333"/>
            </a:avLst>
          </a:prstGeom>
          <a:solidFill>
            <a:srgbClr val="FEF9E7"/>
          </a:solidFill>
          <a:ln w="9525">
            <a:solidFill>
              <a:srgbClr val="F59E0B"/>
            </a:solidFill>
          </a:ln>
        </p:spPr>
      </p:sp>
      <p:sp>
        <p:nvSpPr>
          <p:cNvPr id="66" name="TextBox 66"/>
          <p:cNvSpPr txBox="1"/>
          <p:nvPr/>
        </p:nvSpPr>
        <p:spPr>
          <a:xfrm>
            <a:off x="9514405" y="3268028"/>
            <a:ext cx="592691" cy="213360"/>
          </a:xfrm>
          <a:prstGeom prst="rect">
            <a:avLst/>
          </a:prstGeom>
          <a:noFill/>
          <a:ln>
            <a:noFill/>
          </a:ln>
        </p:spPr>
        <p:txBody>
          <a:bodyPr wrap="none" lIns="0" tIns="0" rIns="0" bIns="0" anchor="t" anchorCtr="0">
            <a:spAutoFit/>
          </a:bodyPr>
          <a:lstStyle/>
          <a:p>
            <a:pPr algn="ctr"/>
            <a:r>
              <a:rPr lang="zh-CN" sz="1050" b="1" dirty="0">
                <a:solidFill>
                  <a:srgbClr val="F59E0B"/>
                </a:solidFill>
                <a:latin typeface="Arial"/>
                <a:ea typeface="Microsoft YaHei"/>
                <a:cs typeface="Arial"/>
              </a:rPr>
              <a:t>🔷 里程碑</a:t>
            </a:r>
          </a:p>
        </p:txBody>
      </p:sp>
      <p:sp>
        <p:nvSpPr>
          <p:cNvPr id="67" name="TextBox 67"/>
          <p:cNvSpPr txBox="1"/>
          <p:nvPr/>
        </p:nvSpPr>
        <p:spPr>
          <a:xfrm>
            <a:off x="9161621" y="3505200"/>
            <a:ext cx="1298258" cy="304800"/>
          </a:xfrm>
          <a:prstGeom prst="rect">
            <a:avLst/>
          </a:prstGeom>
          <a:noFill/>
          <a:ln>
            <a:noFill/>
          </a:ln>
        </p:spPr>
        <p:txBody>
          <a:bodyPr wrap="none" lIns="0" tIns="0" rIns="0" bIns="0" anchor="t" anchorCtr="0">
            <a:spAutoFit/>
          </a:bodyPr>
          <a:lstStyle/>
          <a:p>
            <a:pPr algn="ctr"/>
            <a:r>
              <a:rPr lang="zh-CN" sz="1500" b="1" dirty="0">
                <a:solidFill>
                  <a:srgbClr val="1E293B"/>
                </a:solidFill>
                <a:latin typeface="Arial"/>
                <a:ea typeface="Microsoft YaHei"/>
                <a:cs typeface="Arial"/>
              </a:rPr>
              <a:t>系统正式上线</a:t>
            </a:r>
          </a:p>
        </p:txBody>
      </p:sp>
      <p:sp>
        <p:nvSpPr>
          <p:cNvPr id="68" name="TextBox 68"/>
          <p:cNvSpPr txBox="1"/>
          <p:nvPr/>
        </p:nvSpPr>
        <p:spPr>
          <a:xfrm>
            <a:off x="9317855" y="3810952"/>
            <a:ext cx="98579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2026年6月30日</a:t>
            </a:r>
          </a:p>
        </p:txBody>
      </p:sp>
      <p:sp>
        <p:nvSpPr>
          <p:cNvPr id="69" name="TextBox 69"/>
          <p:cNvSpPr txBox="1"/>
          <p:nvPr/>
        </p:nvSpPr>
        <p:spPr>
          <a:xfrm>
            <a:off x="9138535" y="4009549"/>
            <a:ext cx="1344430"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a:ea typeface="Microsoft YaHei"/>
                <a:cs typeface="Arial"/>
              </a:rPr>
              <a:t>PingCode正式投入使用</a:t>
            </a:r>
          </a:p>
        </p:txBody>
      </p:sp>
      <p:sp>
        <p:nvSpPr>
          <p:cNvPr id="70" name="Rectangle 70"/>
          <p:cNvSpPr/>
          <p:nvPr/>
        </p:nvSpPr>
        <p:spPr>
          <a:xfrm>
            <a:off x="4286250" y="5314950"/>
            <a:ext cx="3714750" cy="19050"/>
          </a:xfrm>
          <a:prstGeom prst="rect">
            <a:avLst/>
          </a:prstGeom>
          <a:solidFill>
            <a:srgbClr val="E2E8F0"/>
          </a:solidFill>
          <a:ln>
            <a:noFill/>
          </a:ln>
        </p:spPr>
      </p:sp>
      <p:sp>
        <p:nvSpPr>
          <p:cNvPr id="71" name="Polygon 71"/>
          <p:cNvSpPr/>
          <p:nvPr/>
        </p:nvSpPr>
        <p:spPr>
          <a:xfrm>
            <a:off x="8001000" y="5238750"/>
            <a:ext cx="190500" cy="171450"/>
          </a:xfrm>
          <a:custGeom>
            <a:avLst/>
            <a:gdLst/>
            <a:ahLst/>
            <a:cxnLst/>
            <a:rect l="l" t="t" r="r" b="b"/>
            <a:pathLst>
              <a:path w="190500" h="171450">
                <a:moveTo>
                  <a:pt x="0" y="0"/>
                </a:moveTo>
                <a:lnTo>
                  <a:pt x="190500" y="85725"/>
                </a:lnTo>
                <a:lnTo>
                  <a:pt x="0" y="171450"/>
                </a:lnTo>
                <a:close/>
              </a:path>
            </a:pathLst>
          </a:custGeom>
          <a:solidFill>
            <a:srgbClr val="E2E8F0"/>
          </a:solidFill>
          <a:ln>
            <a:noFill/>
          </a:ln>
        </p:spPr>
      </p:sp>
      <p:sp>
        <p:nvSpPr>
          <p:cNvPr id="72" name="Rectangle 72"/>
          <p:cNvSpPr/>
          <p:nvPr/>
        </p:nvSpPr>
        <p:spPr>
          <a:xfrm>
            <a:off x="571500" y="6619875"/>
            <a:ext cx="11049000" cy="9525"/>
          </a:xfrm>
          <a:prstGeom prst="rect">
            <a:avLst/>
          </a:prstGeom>
          <a:solidFill>
            <a:srgbClr val="E2E8F0"/>
          </a:solidFill>
          <a:ln>
            <a:noFill/>
          </a:ln>
        </p:spPr>
      </p:sp>
      <p:sp>
        <p:nvSpPr>
          <p:cNvPr id="73" name="TextBox 73"/>
          <p:cNvSpPr txBox="1"/>
          <p:nvPr/>
        </p:nvSpPr>
        <p:spPr>
          <a:xfrm>
            <a:off x="560070" y="6684645"/>
            <a:ext cx="2801207"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阶段目标: 系统试点验证 → 培训完成 → 正式上线通知</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44830" y="249555"/>
            <a:ext cx="2229212" cy="426720"/>
          </a:xfrm>
          <a:prstGeom prst="rect">
            <a:avLst/>
          </a:prstGeom>
          <a:noFill/>
          <a:ln>
            <a:noFill/>
          </a:ln>
        </p:spPr>
        <p:txBody>
          <a:bodyPr wrap="none" lIns="0" tIns="0" rIns="0" bIns="0" anchor="t" anchorCtr="0">
            <a:spAutoFit/>
          </a:bodyPr>
          <a:lstStyle/>
          <a:p>
            <a:pPr algn="l"/>
            <a:r>
              <a:rPr lang="zh-CN" sz="2100" b="1" dirty="0">
                <a:solidFill>
                  <a:srgbClr val="1E293B"/>
                </a:solidFill>
                <a:latin typeface="Arial"/>
                <a:ea typeface="Microsoft YaHei"/>
                <a:cs typeface="Arial"/>
              </a:rPr>
              <a:t>阶段5: 跟踪验收</a:t>
            </a:r>
          </a:p>
        </p:txBody>
      </p:sp>
      <p:sp>
        <p:nvSpPr>
          <p:cNvPr id="5" name="TextBox 5"/>
          <p:cNvSpPr txBox="1"/>
          <p:nvPr/>
        </p:nvSpPr>
        <p:spPr>
          <a:xfrm>
            <a:off x="557212" y="621506"/>
            <a:ext cx="3126462"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6月30日 — 12月31日 · 系统持续优化与正式验收</a:t>
            </a:r>
          </a:p>
        </p:txBody>
      </p:sp>
      <p:sp>
        <p:nvSpPr>
          <p:cNvPr id="6" name="TextBox 6"/>
          <p:cNvSpPr txBox="1"/>
          <p:nvPr/>
        </p:nvSpPr>
        <p:spPr>
          <a:xfrm>
            <a:off x="11393591" y="370999"/>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P06</a:t>
            </a:r>
          </a:p>
        </p:txBody>
      </p:sp>
      <p:sp>
        <p:nvSpPr>
          <p:cNvPr id="7" name="Rectangle 7"/>
          <p:cNvSpPr/>
          <p:nvPr/>
        </p:nvSpPr>
        <p:spPr>
          <a:xfrm>
            <a:off x="571500" y="1143000"/>
            <a:ext cx="6667500" cy="5334000"/>
          </a:xfrm>
          <a:prstGeom prst="roundRect">
            <a:avLst>
              <a:gd name="adj" fmla="val 2143"/>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8" name="Rectangle 8"/>
          <p:cNvSpPr/>
          <p:nvPr/>
        </p:nvSpPr>
        <p:spPr>
          <a:xfrm>
            <a:off x="571500" y="1143000"/>
            <a:ext cx="6667500" cy="47625"/>
          </a:xfrm>
          <a:prstGeom prst="roundRect">
            <a:avLst>
              <a:gd name="adj" fmla="val 40000"/>
            </a:avLst>
          </a:prstGeom>
          <a:solidFill>
            <a:srgbClr val="EF4444"/>
          </a:solidFill>
          <a:ln>
            <a:noFill/>
          </a:ln>
        </p:spPr>
      </p:sp>
      <p:sp>
        <p:nvSpPr>
          <p:cNvPr id="9" name="TextBox 9"/>
          <p:cNvSpPr txBox="1"/>
          <p:nvPr/>
        </p:nvSpPr>
        <p:spPr>
          <a:xfrm>
            <a:off x="933450" y="1457325"/>
            <a:ext cx="2768441" cy="304800"/>
          </a:xfrm>
          <a:prstGeom prst="rect">
            <a:avLst/>
          </a:prstGeom>
          <a:noFill/>
          <a:ln>
            <a:noFill/>
          </a:ln>
        </p:spPr>
        <p:txBody>
          <a:bodyPr wrap="none" lIns="0" tIns="0" rIns="0" bIns="0" anchor="t" anchorCtr="0">
            <a:spAutoFit/>
          </a:bodyPr>
          <a:lstStyle/>
          <a:p>
            <a:pPr algn="l"/>
            <a:r>
              <a:rPr lang="zh-CN" sz="1500" b="1" dirty="0">
                <a:solidFill>
                  <a:srgbClr val="1E293B"/>
                </a:solidFill>
                <a:latin typeface="Arial"/>
                <a:ea typeface="Microsoft YaHei"/>
                <a:cs typeface="Arial"/>
              </a:rPr>
              <a:t>系统使用问题收集与持续优化</a:t>
            </a:r>
          </a:p>
        </p:txBody>
      </p:sp>
      <p:grpSp>
        <p:nvGrpSpPr>
          <p:cNvPr id="25" name="Group 25"/>
          <p:cNvGrpSpPr/>
          <p:nvPr/>
        </p:nvGrpSpPr>
        <p:grpSpPr>
          <a:xfrm>
            <a:off x="952500" y="1905000"/>
            <a:ext cx="4857750" cy="1809750"/>
            <a:chOff x="952500" y="1905000"/>
            <a:chExt cx="4857750" cy="1809750"/>
          </a:xfrm>
        </p:grpSpPr>
        <p:sp>
          <p:nvSpPr>
            <p:cNvPr id="10" name="Rectangle 10"/>
            <p:cNvSpPr/>
            <p:nvPr/>
          </p:nvSpPr>
          <p:spPr>
            <a:xfrm>
              <a:off x="952500" y="1905000"/>
              <a:ext cx="1714500" cy="762000"/>
            </a:xfrm>
            <a:prstGeom prst="roundRect">
              <a:avLst>
                <a:gd name="adj" fmla="val 10000"/>
              </a:avLst>
            </a:prstGeom>
            <a:solidFill>
              <a:srgbClr val="FEF2F2"/>
            </a:solidFill>
            <a:ln>
              <a:noFill/>
            </a:ln>
          </p:spPr>
        </p:sp>
        <p:sp>
          <p:nvSpPr>
            <p:cNvPr id="11" name="TextBox 11"/>
            <p:cNvSpPr txBox="1"/>
            <p:nvPr/>
          </p:nvSpPr>
          <p:spPr>
            <a:xfrm>
              <a:off x="1458468" y="2108835"/>
              <a:ext cx="702564" cy="243840"/>
            </a:xfrm>
            <a:prstGeom prst="rect">
              <a:avLst/>
            </a:prstGeom>
            <a:noFill/>
            <a:ln>
              <a:noFill/>
            </a:ln>
          </p:spPr>
          <p:txBody>
            <a:bodyPr wrap="none" lIns="0" tIns="0" rIns="0" bIns="0" anchor="t" anchorCtr="0">
              <a:spAutoFit/>
            </a:bodyPr>
            <a:lstStyle/>
            <a:p>
              <a:pPr algn="ctr"/>
              <a:r>
                <a:rPr lang="zh-CN" sz="1200" b="1" dirty="0">
                  <a:solidFill>
                    <a:srgbClr val="DC2626"/>
                  </a:solidFill>
                  <a:latin typeface="Arial"/>
                  <a:ea typeface="Microsoft YaHei"/>
                  <a:cs typeface="Arial"/>
                </a:rPr>
                <a:t>问题收集</a:t>
              </a:r>
            </a:p>
          </p:txBody>
        </p:sp>
        <p:sp>
          <p:nvSpPr>
            <p:cNvPr id="12" name="TextBox 12"/>
            <p:cNvSpPr txBox="1"/>
            <p:nvPr/>
          </p:nvSpPr>
          <p:spPr>
            <a:xfrm>
              <a:off x="1318260" y="2379345"/>
              <a:ext cx="982980"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所有使用人员反馈</a:t>
              </a:r>
            </a:p>
          </p:txBody>
        </p:sp>
        <p:sp>
          <p:nvSpPr>
            <p:cNvPr id="13" name="Polygon 13"/>
            <p:cNvSpPr/>
            <p:nvPr/>
          </p:nvSpPr>
          <p:spPr>
            <a:xfrm>
              <a:off x="2762250" y="2190750"/>
              <a:ext cx="571500" cy="342900"/>
            </a:xfrm>
            <a:custGeom>
              <a:avLst/>
              <a:gdLst/>
              <a:ahLst/>
              <a:cxnLst/>
              <a:rect l="l" t="t" r="r" b="b"/>
              <a:pathLst>
                <a:path w="571500" h="342900">
                  <a:moveTo>
                    <a:pt x="0" y="95250"/>
                  </a:moveTo>
                  <a:lnTo>
                    <a:pt x="285750" y="95250"/>
                  </a:lnTo>
                  <a:lnTo>
                    <a:pt x="285750" y="0"/>
                  </a:lnTo>
                  <a:lnTo>
                    <a:pt x="571500" y="171450"/>
                  </a:lnTo>
                  <a:lnTo>
                    <a:pt x="285750" y="342900"/>
                  </a:lnTo>
                  <a:lnTo>
                    <a:pt x="285750" y="247650"/>
                  </a:lnTo>
                  <a:lnTo>
                    <a:pt x="0" y="247650"/>
                  </a:lnTo>
                  <a:close/>
                </a:path>
              </a:pathLst>
            </a:custGeom>
            <a:solidFill>
              <a:srgbClr val="FCA5A5"/>
            </a:solidFill>
            <a:ln>
              <a:noFill/>
            </a:ln>
          </p:spPr>
        </p:sp>
        <p:sp>
          <p:nvSpPr>
            <p:cNvPr id="14" name="Rectangle 14"/>
            <p:cNvSpPr/>
            <p:nvPr/>
          </p:nvSpPr>
          <p:spPr>
            <a:xfrm>
              <a:off x="3429000" y="1905000"/>
              <a:ext cx="1714500" cy="762000"/>
            </a:xfrm>
            <a:prstGeom prst="roundRect">
              <a:avLst>
                <a:gd name="adj" fmla="val 10000"/>
              </a:avLst>
            </a:prstGeom>
            <a:solidFill>
              <a:srgbClr val="FEF2F2"/>
            </a:solidFill>
            <a:ln>
              <a:noFill/>
            </a:ln>
          </p:spPr>
        </p:sp>
        <p:sp>
          <p:nvSpPr>
            <p:cNvPr id="15" name="TextBox 15"/>
            <p:cNvSpPr txBox="1"/>
            <p:nvPr/>
          </p:nvSpPr>
          <p:spPr>
            <a:xfrm>
              <a:off x="3934968" y="2108835"/>
              <a:ext cx="702564" cy="243840"/>
            </a:xfrm>
            <a:prstGeom prst="rect">
              <a:avLst/>
            </a:prstGeom>
            <a:noFill/>
            <a:ln>
              <a:noFill/>
            </a:ln>
          </p:spPr>
          <p:txBody>
            <a:bodyPr wrap="none" lIns="0" tIns="0" rIns="0" bIns="0" anchor="t" anchorCtr="0">
              <a:spAutoFit/>
            </a:bodyPr>
            <a:lstStyle/>
            <a:p>
              <a:pPr algn="ctr"/>
              <a:r>
                <a:rPr lang="zh-CN" sz="1200" b="1" dirty="0">
                  <a:solidFill>
                    <a:srgbClr val="DC2626"/>
                  </a:solidFill>
                  <a:latin typeface="Arial"/>
                  <a:ea typeface="Microsoft YaHei"/>
                  <a:cs typeface="Arial"/>
                </a:rPr>
                <a:t>问题跟踪</a:t>
              </a:r>
            </a:p>
          </p:txBody>
        </p:sp>
        <p:sp>
          <p:nvSpPr>
            <p:cNvPr id="16" name="TextBox 16"/>
            <p:cNvSpPr txBox="1"/>
            <p:nvPr/>
          </p:nvSpPr>
          <p:spPr>
            <a:xfrm>
              <a:off x="3725751" y="2379345"/>
              <a:ext cx="112099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整理分类 · 跟进进度</a:t>
              </a:r>
            </a:p>
          </p:txBody>
        </p:sp>
        <p:sp>
          <p:nvSpPr>
            <p:cNvPr id="17" name="Polygon 17"/>
            <p:cNvSpPr/>
            <p:nvPr/>
          </p:nvSpPr>
          <p:spPr>
            <a:xfrm>
              <a:off x="5238750" y="2190750"/>
              <a:ext cx="571500" cy="342900"/>
            </a:xfrm>
            <a:custGeom>
              <a:avLst/>
              <a:gdLst/>
              <a:ahLst/>
              <a:cxnLst/>
              <a:rect l="l" t="t" r="r" b="b"/>
              <a:pathLst>
                <a:path w="571500" h="342900">
                  <a:moveTo>
                    <a:pt x="0" y="95250"/>
                  </a:moveTo>
                  <a:lnTo>
                    <a:pt x="285750" y="95250"/>
                  </a:lnTo>
                  <a:lnTo>
                    <a:pt x="285750" y="0"/>
                  </a:lnTo>
                  <a:lnTo>
                    <a:pt x="571500" y="171450"/>
                  </a:lnTo>
                  <a:lnTo>
                    <a:pt x="285750" y="342900"/>
                  </a:lnTo>
                  <a:lnTo>
                    <a:pt x="285750" y="247650"/>
                  </a:lnTo>
                  <a:lnTo>
                    <a:pt x="0" y="247650"/>
                  </a:lnTo>
                  <a:close/>
                </a:path>
              </a:pathLst>
            </a:custGeom>
            <a:solidFill>
              <a:srgbClr val="FCA5A5"/>
            </a:solidFill>
            <a:ln>
              <a:noFill/>
            </a:ln>
          </p:spPr>
        </p:sp>
        <p:sp>
          <p:nvSpPr>
            <p:cNvPr id="18" name="Rectangle 18"/>
            <p:cNvSpPr/>
            <p:nvPr/>
          </p:nvSpPr>
          <p:spPr>
            <a:xfrm>
              <a:off x="952500" y="2952750"/>
              <a:ext cx="1714500" cy="762000"/>
            </a:xfrm>
            <a:prstGeom prst="roundRect">
              <a:avLst>
                <a:gd name="adj" fmla="val 10000"/>
              </a:avLst>
            </a:prstGeom>
            <a:solidFill>
              <a:srgbClr val="ECFDF5"/>
            </a:solidFill>
            <a:ln>
              <a:noFill/>
            </a:ln>
          </p:spPr>
        </p:sp>
        <p:sp>
          <p:nvSpPr>
            <p:cNvPr id="19" name="TextBox 19"/>
            <p:cNvSpPr txBox="1"/>
            <p:nvPr/>
          </p:nvSpPr>
          <p:spPr>
            <a:xfrm>
              <a:off x="1458468" y="3156585"/>
              <a:ext cx="702564" cy="243840"/>
            </a:xfrm>
            <a:prstGeom prst="rect">
              <a:avLst/>
            </a:prstGeom>
            <a:noFill/>
            <a:ln>
              <a:noFill/>
            </a:ln>
          </p:spPr>
          <p:txBody>
            <a:bodyPr wrap="none" lIns="0" tIns="0" rIns="0" bIns="0" anchor="t" anchorCtr="0">
              <a:spAutoFit/>
            </a:bodyPr>
            <a:lstStyle/>
            <a:p>
              <a:pPr algn="ctr"/>
              <a:r>
                <a:rPr lang="zh-CN" sz="1200" b="1" dirty="0">
                  <a:solidFill>
                    <a:srgbClr val="10B981"/>
                  </a:solidFill>
                  <a:latin typeface="Arial"/>
                  <a:ea typeface="Microsoft YaHei"/>
                  <a:cs typeface="Arial"/>
                </a:rPr>
                <a:t>优化实施</a:t>
              </a:r>
            </a:p>
          </p:txBody>
        </p:sp>
        <p:sp>
          <p:nvSpPr>
            <p:cNvPr id="20" name="TextBox 20"/>
            <p:cNvSpPr txBox="1"/>
            <p:nvPr/>
          </p:nvSpPr>
          <p:spPr>
            <a:xfrm>
              <a:off x="1318260" y="3427095"/>
              <a:ext cx="982980"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乙方持续优化系统</a:t>
              </a:r>
            </a:p>
          </p:txBody>
        </p:sp>
        <p:sp>
          <p:nvSpPr>
            <p:cNvPr id="21" name="Polygon 21"/>
            <p:cNvSpPr/>
            <p:nvPr/>
          </p:nvSpPr>
          <p:spPr>
            <a:xfrm>
              <a:off x="2762250" y="3238500"/>
              <a:ext cx="571500" cy="342900"/>
            </a:xfrm>
            <a:custGeom>
              <a:avLst/>
              <a:gdLst/>
              <a:ahLst/>
              <a:cxnLst/>
              <a:rect l="l" t="t" r="r" b="b"/>
              <a:pathLst>
                <a:path w="571500" h="342900">
                  <a:moveTo>
                    <a:pt x="0" y="95250"/>
                  </a:moveTo>
                  <a:lnTo>
                    <a:pt x="285750" y="95250"/>
                  </a:lnTo>
                  <a:lnTo>
                    <a:pt x="285750" y="0"/>
                  </a:lnTo>
                  <a:lnTo>
                    <a:pt x="571500" y="171450"/>
                  </a:lnTo>
                  <a:lnTo>
                    <a:pt x="285750" y="342900"/>
                  </a:lnTo>
                  <a:lnTo>
                    <a:pt x="285750" y="247650"/>
                  </a:lnTo>
                  <a:lnTo>
                    <a:pt x="0" y="247650"/>
                  </a:lnTo>
                  <a:close/>
                </a:path>
              </a:pathLst>
            </a:custGeom>
            <a:solidFill>
              <a:srgbClr val="6EE7B7"/>
            </a:solidFill>
            <a:ln>
              <a:noFill/>
            </a:ln>
          </p:spPr>
        </p:sp>
        <p:sp>
          <p:nvSpPr>
            <p:cNvPr id="22" name="Rectangle 22"/>
            <p:cNvSpPr/>
            <p:nvPr/>
          </p:nvSpPr>
          <p:spPr>
            <a:xfrm>
              <a:off x="3429000" y="2952750"/>
              <a:ext cx="1714500" cy="762000"/>
            </a:xfrm>
            <a:prstGeom prst="roundRect">
              <a:avLst>
                <a:gd name="adj" fmla="val 10000"/>
              </a:avLst>
            </a:prstGeom>
            <a:solidFill>
              <a:srgbClr val="ECFDF5"/>
            </a:solidFill>
            <a:ln>
              <a:noFill/>
            </a:ln>
          </p:spPr>
        </p:sp>
        <p:sp>
          <p:nvSpPr>
            <p:cNvPr id="23" name="TextBox 23"/>
            <p:cNvSpPr txBox="1"/>
            <p:nvPr/>
          </p:nvSpPr>
          <p:spPr>
            <a:xfrm>
              <a:off x="3934968" y="3156585"/>
              <a:ext cx="702564" cy="243840"/>
            </a:xfrm>
            <a:prstGeom prst="rect">
              <a:avLst/>
            </a:prstGeom>
            <a:noFill/>
            <a:ln>
              <a:noFill/>
            </a:ln>
          </p:spPr>
          <p:txBody>
            <a:bodyPr wrap="none" lIns="0" tIns="0" rIns="0" bIns="0" anchor="t" anchorCtr="0">
              <a:spAutoFit/>
            </a:bodyPr>
            <a:lstStyle/>
            <a:p>
              <a:pPr algn="ctr"/>
              <a:r>
                <a:rPr lang="zh-CN" sz="1200" b="1" dirty="0">
                  <a:solidFill>
                    <a:srgbClr val="10B981"/>
                  </a:solidFill>
                  <a:latin typeface="Arial"/>
                  <a:ea typeface="Microsoft YaHei"/>
                  <a:cs typeface="Arial"/>
                </a:rPr>
                <a:t>效果验证</a:t>
              </a:r>
            </a:p>
          </p:txBody>
        </p:sp>
        <p:sp>
          <p:nvSpPr>
            <p:cNvPr id="24" name="TextBox 24"/>
            <p:cNvSpPr txBox="1"/>
            <p:nvPr/>
          </p:nvSpPr>
          <p:spPr>
            <a:xfrm>
              <a:off x="3794760" y="3427095"/>
              <a:ext cx="982980"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确认优化达到预期</a:t>
              </a:r>
            </a:p>
          </p:txBody>
        </p:sp>
      </p:grpSp>
      <p:sp>
        <p:nvSpPr>
          <p:cNvPr id="26" name="Rectangle 26"/>
          <p:cNvSpPr/>
          <p:nvPr/>
        </p:nvSpPr>
        <p:spPr>
          <a:xfrm>
            <a:off x="952500" y="4048125"/>
            <a:ext cx="5905500" cy="9525"/>
          </a:xfrm>
          <a:prstGeom prst="rect">
            <a:avLst/>
          </a:prstGeom>
          <a:solidFill>
            <a:srgbClr val="E2E8F0"/>
          </a:solidFill>
          <a:ln>
            <a:noFill/>
          </a:ln>
        </p:spPr>
      </p:sp>
      <p:sp>
        <p:nvSpPr>
          <p:cNvPr id="27" name="TextBox 27"/>
          <p:cNvSpPr txBox="1"/>
          <p:nvPr/>
        </p:nvSpPr>
        <p:spPr>
          <a:xfrm>
            <a:off x="937260" y="4347210"/>
            <a:ext cx="702564"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关键角色</a:t>
            </a:r>
          </a:p>
        </p:txBody>
      </p:sp>
      <p:grpSp>
        <p:nvGrpSpPr>
          <p:cNvPr id="36" name="Group 36"/>
          <p:cNvGrpSpPr/>
          <p:nvPr/>
        </p:nvGrpSpPr>
        <p:grpSpPr>
          <a:xfrm>
            <a:off x="1057275" y="4677728"/>
            <a:ext cx="2553605" cy="984884"/>
            <a:chOff x="1057275" y="4677728"/>
            <a:chExt cx="2553605" cy="984884"/>
          </a:xfrm>
        </p:grpSpPr>
        <p:sp>
          <p:nvSpPr>
            <p:cNvPr id="28" name="Ellipse 28"/>
            <p:cNvSpPr/>
            <p:nvPr/>
          </p:nvSpPr>
          <p:spPr>
            <a:xfrm>
              <a:off x="1057275" y="4705350"/>
              <a:ext cx="76200" cy="76200"/>
            </a:xfrm>
            <a:prstGeom prst="ellipse">
              <a:avLst/>
            </a:prstGeom>
            <a:solidFill>
              <a:srgbClr val="EF4444"/>
            </a:solidFill>
            <a:ln>
              <a:noFill/>
            </a:ln>
          </p:spPr>
        </p:sp>
        <p:sp>
          <p:nvSpPr>
            <p:cNvPr id="29" name="TextBox 29"/>
            <p:cNvSpPr txBox="1"/>
            <p:nvPr/>
          </p:nvSpPr>
          <p:spPr>
            <a:xfrm>
              <a:off x="1224915" y="4677728"/>
              <a:ext cx="238596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需求发起人: 发起使用需求，参与验收</a:t>
              </a:r>
            </a:p>
          </p:txBody>
        </p:sp>
        <p:sp>
          <p:nvSpPr>
            <p:cNvPr id="30" name="Ellipse 30"/>
            <p:cNvSpPr/>
            <p:nvPr/>
          </p:nvSpPr>
          <p:spPr>
            <a:xfrm>
              <a:off x="1057275" y="4962525"/>
              <a:ext cx="76200" cy="76200"/>
            </a:xfrm>
            <a:prstGeom prst="ellipse">
              <a:avLst/>
            </a:prstGeom>
            <a:solidFill>
              <a:srgbClr val="F59E0B"/>
            </a:solidFill>
            <a:ln>
              <a:noFill/>
            </a:ln>
          </p:spPr>
        </p:sp>
        <p:sp>
          <p:nvSpPr>
            <p:cNvPr id="31" name="TextBox 31"/>
            <p:cNvSpPr txBox="1"/>
            <p:nvPr/>
          </p:nvSpPr>
          <p:spPr>
            <a:xfrm>
              <a:off x="1224915" y="4934902"/>
              <a:ext cx="1524857"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IT: 系统维护与技术支持</a:t>
              </a:r>
            </a:p>
          </p:txBody>
        </p:sp>
        <p:sp>
          <p:nvSpPr>
            <p:cNvPr id="32" name="Ellipse 32"/>
            <p:cNvSpPr/>
            <p:nvPr/>
          </p:nvSpPr>
          <p:spPr>
            <a:xfrm>
              <a:off x="1057275" y="5219700"/>
              <a:ext cx="76200" cy="76200"/>
            </a:xfrm>
            <a:prstGeom prst="ellipse">
              <a:avLst/>
            </a:prstGeom>
            <a:solidFill>
              <a:srgbClr val="10B981"/>
            </a:solidFill>
            <a:ln>
              <a:noFill/>
            </a:ln>
          </p:spPr>
        </p:sp>
        <p:sp>
          <p:nvSpPr>
            <p:cNvPr id="33" name="TextBox 33"/>
            <p:cNvSpPr txBox="1"/>
            <p:nvPr/>
          </p:nvSpPr>
          <p:spPr>
            <a:xfrm>
              <a:off x="1224915" y="5192078"/>
              <a:ext cx="210593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系统管理员: 日常管理与配置维护</a:t>
              </a:r>
            </a:p>
          </p:txBody>
        </p:sp>
        <p:sp>
          <p:nvSpPr>
            <p:cNvPr id="34" name="Ellipse 34"/>
            <p:cNvSpPr/>
            <p:nvPr/>
          </p:nvSpPr>
          <p:spPr>
            <a:xfrm>
              <a:off x="1057275" y="5476875"/>
              <a:ext cx="76200" cy="76200"/>
            </a:xfrm>
            <a:prstGeom prst="ellipse">
              <a:avLst/>
            </a:prstGeom>
            <a:solidFill>
              <a:srgbClr val="2563EB"/>
            </a:solidFill>
            <a:ln>
              <a:noFill/>
            </a:ln>
          </p:spPr>
        </p:sp>
        <p:sp>
          <p:nvSpPr>
            <p:cNvPr id="35" name="TextBox 35"/>
            <p:cNvSpPr txBox="1"/>
            <p:nvPr/>
          </p:nvSpPr>
          <p:spPr>
            <a:xfrm>
              <a:off x="1224915" y="5449252"/>
              <a:ext cx="2245947"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所有使用人员: 反馈使用问题与建议</a:t>
              </a:r>
            </a:p>
          </p:txBody>
        </p:sp>
      </p:grpSp>
      <p:sp>
        <p:nvSpPr>
          <p:cNvPr id="37" name="Rectangle 37"/>
          <p:cNvSpPr/>
          <p:nvPr/>
        </p:nvSpPr>
        <p:spPr>
          <a:xfrm>
            <a:off x="7429500" y="1143000"/>
            <a:ext cx="4191000" cy="5334000"/>
          </a:xfrm>
          <a:prstGeom prst="roundRect">
            <a:avLst>
              <a:gd name="adj" fmla="val 2727"/>
            </a:avLst>
          </a:prstGeom>
          <a:solidFill>
            <a:srgbClr val="FFFFFF"/>
          </a:solidFill>
          <a:ln w="9525">
            <a:solidFill>
              <a:srgbClr val="E2E8F0"/>
            </a:solidFill>
          </a:ln>
          <a:effectLst>
            <a:outerShdw blurRad="57150" dist="9525" dir="5400000" algn="ctr" rotWithShape="0">
              <a:srgbClr val="0F172A">
                <a:alpha val="3750"/>
              </a:srgbClr>
            </a:outerShdw>
          </a:effectLst>
        </p:spPr>
      </p:sp>
      <p:sp>
        <p:nvSpPr>
          <p:cNvPr id="38" name="Rectangle 38"/>
          <p:cNvSpPr/>
          <p:nvPr/>
        </p:nvSpPr>
        <p:spPr>
          <a:xfrm>
            <a:off x="7429500" y="1143000"/>
            <a:ext cx="4191000" cy="47625"/>
          </a:xfrm>
          <a:prstGeom prst="roundRect">
            <a:avLst>
              <a:gd name="adj" fmla="val 40000"/>
            </a:avLst>
          </a:prstGeom>
          <a:solidFill>
            <a:srgbClr val="10B981"/>
          </a:solidFill>
          <a:ln>
            <a:noFill/>
          </a:ln>
        </p:spPr>
      </p:sp>
      <p:sp>
        <p:nvSpPr>
          <p:cNvPr id="39" name="TextBox 39"/>
          <p:cNvSpPr txBox="1"/>
          <p:nvPr/>
        </p:nvSpPr>
        <p:spPr>
          <a:xfrm>
            <a:off x="7791450" y="1457325"/>
            <a:ext cx="1298258" cy="304800"/>
          </a:xfrm>
          <a:prstGeom prst="rect">
            <a:avLst/>
          </a:prstGeom>
          <a:noFill/>
          <a:ln>
            <a:noFill/>
          </a:ln>
        </p:spPr>
        <p:txBody>
          <a:bodyPr wrap="none" lIns="0" tIns="0" rIns="0" bIns="0" anchor="t" anchorCtr="0">
            <a:spAutoFit/>
          </a:bodyPr>
          <a:lstStyle/>
          <a:p>
            <a:pPr algn="l"/>
            <a:r>
              <a:rPr lang="zh-CN" sz="1500" b="1" dirty="0">
                <a:solidFill>
                  <a:srgbClr val="1E293B"/>
                </a:solidFill>
                <a:latin typeface="Arial"/>
                <a:ea typeface="Microsoft YaHei"/>
                <a:cs typeface="Arial"/>
              </a:rPr>
              <a:t>项目交付验收</a:t>
            </a:r>
          </a:p>
        </p:txBody>
      </p:sp>
      <p:sp>
        <p:nvSpPr>
          <p:cNvPr id="40" name="TextBox 40"/>
          <p:cNvSpPr txBox="1"/>
          <p:nvPr/>
        </p:nvSpPr>
        <p:spPr>
          <a:xfrm>
            <a:off x="7798118" y="1780699"/>
            <a:ext cx="655344"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时间: 待定</a:t>
            </a:r>
          </a:p>
        </p:txBody>
      </p:sp>
      <p:sp>
        <p:nvSpPr>
          <p:cNvPr id="41" name="Rectangle 41"/>
          <p:cNvSpPr/>
          <p:nvPr/>
        </p:nvSpPr>
        <p:spPr>
          <a:xfrm>
            <a:off x="7715250" y="2095500"/>
            <a:ext cx="3619500" cy="571500"/>
          </a:xfrm>
          <a:prstGeom prst="roundRect">
            <a:avLst>
              <a:gd name="adj" fmla="val 13333"/>
            </a:avLst>
          </a:prstGeom>
          <a:solidFill>
            <a:srgbClr val="F8FAFC"/>
          </a:solidFill>
          <a:ln>
            <a:noFill/>
          </a:ln>
        </p:spPr>
      </p:sp>
      <p:sp>
        <p:nvSpPr>
          <p:cNvPr id="42" name="TextBox 42"/>
          <p:cNvSpPr txBox="1"/>
          <p:nvPr/>
        </p:nvSpPr>
        <p:spPr>
          <a:xfrm>
            <a:off x="7940040" y="2220278"/>
            <a:ext cx="10368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a:t>
            </a:r>
          </a:p>
        </p:txBody>
      </p:sp>
      <p:sp>
        <p:nvSpPr>
          <p:cNvPr id="43" name="TextBox 43"/>
          <p:cNvSpPr txBox="1"/>
          <p:nvPr/>
        </p:nvSpPr>
        <p:spPr>
          <a:xfrm>
            <a:off x="8129588" y="2221706"/>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Arial"/>
                <a:ea typeface="Microsoft YaHei"/>
                <a:cs typeface="Arial"/>
              </a:rPr>
              <a:t>系统功能验收</a:t>
            </a:r>
          </a:p>
        </p:txBody>
      </p:sp>
      <p:sp>
        <p:nvSpPr>
          <p:cNvPr id="44" name="TextBox 44"/>
          <p:cNvSpPr txBox="1"/>
          <p:nvPr/>
        </p:nvSpPr>
        <p:spPr>
          <a:xfrm>
            <a:off x="8131492" y="2428399"/>
            <a:ext cx="210502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确认部署功能模块完全满足合同要求</a:t>
            </a:r>
          </a:p>
        </p:txBody>
      </p:sp>
      <p:sp>
        <p:nvSpPr>
          <p:cNvPr id="45" name="Rectangle 45"/>
          <p:cNvSpPr/>
          <p:nvPr/>
        </p:nvSpPr>
        <p:spPr>
          <a:xfrm>
            <a:off x="7715250" y="2809875"/>
            <a:ext cx="3619500" cy="571500"/>
          </a:xfrm>
          <a:prstGeom prst="roundRect">
            <a:avLst>
              <a:gd name="adj" fmla="val 13333"/>
            </a:avLst>
          </a:prstGeom>
          <a:solidFill>
            <a:srgbClr val="F8FAFC"/>
          </a:solidFill>
          <a:ln>
            <a:noFill/>
          </a:ln>
        </p:spPr>
      </p:sp>
      <p:sp>
        <p:nvSpPr>
          <p:cNvPr id="46" name="TextBox 46"/>
          <p:cNvSpPr txBox="1"/>
          <p:nvPr/>
        </p:nvSpPr>
        <p:spPr>
          <a:xfrm>
            <a:off x="7940040" y="2934652"/>
            <a:ext cx="10368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a:t>
            </a:r>
          </a:p>
        </p:txBody>
      </p:sp>
      <p:sp>
        <p:nvSpPr>
          <p:cNvPr id="47" name="TextBox 47"/>
          <p:cNvSpPr txBox="1"/>
          <p:nvPr/>
        </p:nvSpPr>
        <p:spPr>
          <a:xfrm>
            <a:off x="8129588" y="293608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Arial"/>
                <a:ea typeface="Microsoft YaHei"/>
                <a:cs typeface="Arial"/>
              </a:rPr>
              <a:t>流程落地验证</a:t>
            </a:r>
          </a:p>
        </p:txBody>
      </p:sp>
      <p:sp>
        <p:nvSpPr>
          <p:cNvPr id="48" name="TextBox 48"/>
          <p:cNvSpPr txBox="1"/>
          <p:nvPr/>
        </p:nvSpPr>
        <p:spPr>
          <a:xfrm>
            <a:off x="8131492" y="3142774"/>
            <a:ext cx="2235041"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确认各业务部门流程在系统中正常运转</a:t>
            </a:r>
          </a:p>
        </p:txBody>
      </p:sp>
      <p:sp>
        <p:nvSpPr>
          <p:cNvPr id="49" name="Rectangle 49"/>
          <p:cNvSpPr/>
          <p:nvPr/>
        </p:nvSpPr>
        <p:spPr>
          <a:xfrm>
            <a:off x="7715250" y="3524250"/>
            <a:ext cx="3619500" cy="571500"/>
          </a:xfrm>
          <a:prstGeom prst="roundRect">
            <a:avLst>
              <a:gd name="adj" fmla="val 13333"/>
            </a:avLst>
          </a:prstGeom>
          <a:solidFill>
            <a:srgbClr val="F8FAFC"/>
          </a:solidFill>
          <a:ln>
            <a:noFill/>
          </a:ln>
        </p:spPr>
      </p:sp>
      <p:sp>
        <p:nvSpPr>
          <p:cNvPr id="50" name="TextBox 50"/>
          <p:cNvSpPr txBox="1"/>
          <p:nvPr/>
        </p:nvSpPr>
        <p:spPr>
          <a:xfrm>
            <a:off x="7940040" y="3649028"/>
            <a:ext cx="10368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a:t>
            </a:r>
          </a:p>
        </p:txBody>
      </p:sp>
      <p:sp>
        <p:nvSpPr>
          <p:cNvPr id="51" name="TextBox 51"/>
          <p:cNvSpPr txBox="1"/>
          <p:nvPr/>
        </p:nvSpPr>
        <p:spPr>
          <a:xfrm>
            <a:off x="8129588" y="3650456"/>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Arial"/>
                <a:ea typeface="Microsoft YaHei"/>
                <a:cs typeface="Arial"/>
              </a:rPr>
              <a:t>培训完成确认</a:t>
            </a:r>
          </a:p>
        </p:txBody>
      </p:sp>
      <p:sp>
        <p:nvSpPr>
          <p:cNvPr id="52" name="TextBox 52"/>
          <p:cNvSpPr txBox="1"/>
          <p:nvPr/>
        </p:nvSpPr>
        <p:spPr>
          <a:xfrm>
            <a:off x="8131492" y="3857149"/>
            <a:ext cx="158496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管理员和用户培训记录完整</a:t>
            </a:r>
          </a:p>
        </p:txBody>
      </p:sp>
      <p:sp>
        <p:nvSpPr>
          <p:cNvPr id="53" name="Rectangle 53"/>
          <p:cNvSpPr/>
          <p:nvPr/>
        </p:nvSpPr>
        <p:spPr>
          <a:xfrm>
            <a:off x="7715250" y="4238625"/>
            <a:ext cx="3619500" cy="571500"/>
          </a:xfrm>
          <a:prstGeom prst="roundRect">
            <a:avLst>
              <a:gd name="adj" fmla="val 13333"/>
            </a:avLst>
          </a:prstGeom>
          <a:solidFill>
            <a:srgbClr val="F8FAFC"/>
          </a:solidFill>
          <a:ln>
            <a:noFill/>
          </a:ln>
        </p:spPr>
      </p:sp>
      <p:sp>
        <p:nvSpPr>
          <p:cNvPr id="54" name="TextBox 54"/>
          <p:cNvSpPr txBox="1"/>
          <p:nvPr/>
        </p:nvSpPr>
        <p:spPr>
          <a:xfrm>
            <a:off x="7940040" y="4363402"/>
            <a:ext cx="10368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a:t>
            </a:r>
          </a:p>
        </p:txBody>
      </p:sp>
      <p:sp>
        <p:nvSpPr>
          <p:cNvPr id="55" name="TextBox 55"/>
          <p:cNvSpPr txBox="1"/>
          <p:nvPr/>
        </p:nvSpPr>
        <p:spPr>
          <a:xfrm>
            <a:off x="8129588" y="43648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Arial"/>
                <a:ea typeface="Microsoft YaHei"/>
                <a:cs typeface="Arial"/>
              </a:rPr>
              <a:t>文档交付确认</a:t>
            </a:r>
          </a:p>
        </p:txBody>
      </p:sp>
      <p:sp>
        <p:nvSpPr>
          <p:cNvPr id="56" name="TextBox 56"/>
          <p:cNvSpPr txBox="1"/>
          <p:nvPr/>
        </p:nvSpPr>
        <p:spPr>
          <a:xfrm>
            <a:off x="8131492" y="4571524"/>
            <a:ext cx="2235041"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用户手册、使用规范、权限表完整交付</a:t>
            </a:r>
          </a:p>
        </p:txBody>
      </p:sp>
      <p:sp>
        <p:nvSpPr>
          <p:cNvPr id="57" name="Rectangle 57"/>
          <p:cNvSpPr/>
          <p:nvPr/>
        </p:nvSpPr>
        <p:spPr>
          <a:xfrm>
            <a:off x="7715250" y="4953000"/>
            <a:ext cx="3619500" cy="571500"/>
          </a:xfrm>
          <a:prstGeom prst="roundRect">
            <a:avLst>
              <a:gd name="adj" fmla="val 13333"/>
            </a:avLst>
          </a:prstGeom>
          <a:solidFill>
            <a:srgbClr val="FEF9E7"/>
          </a:solidFill>
          <a:ln>
            <a:noFill/>
          </a:ln>
        </p:spPr>
      </p:sp>
      <p:sp>
        <p:nvSpPr>
          <p:cNvPr id="58" name="TextBox 58"/>
          <p:cNvSpPr txBox="1"/>
          <p:nvPr/>
        </p:nvSpPr>
        <p:spPr>
          <a:xfrm>
            <a:off x="7940040" y="5077778"/>
            <a:ext cx="103680" cy="213360"/>
          </a:xfrm>
          <a:prstGeom prst="rect">
            <a:avLst/>
          </a:prstGeom>
          <a:noFill/>
          <a:ln>
            <a:noFill/>
          </a:ln>
        </p:spPr>
        <p:txBody>
          <a:bodyPr wrap="none" lIns="0" tIns="0" rIns="0" bIns="0" anchor="t" anchorCtr="0">
            <a:spAutoFit/>
          </a:bodyPr>
          <a:lstStyle/>
          <a:p>
            <a:pPr algn="l"/>
            <a:r>
              <a:rPr lang="zh-CN" sz="1050" dirty="0">
                <a:solidFill>
                  <a:srgbClr val="F59E0B"/>
                </a:solidFill>
                <a:latin typeface="Arial"/>
                <a:ea typeface="Microsoft YaHei"/>
                <a:cs typeface="Arial"/>
              </a:rPr>
              <a:t>○</a:t>
            </a:r>
          </a:p>
        </p:txBody>
      </p:sp>
      <p:sp>
        <p:nvSpPr>
          <p:cNvPr id="59" name="TextBox 59"/>
          <p:cNvSpPr txBox="1"/>
          <p:nvPr/>
        </p:nvSpPr>
        <p:spPr>
          <a:xfrm>
            <a:off x="8129588" y="5079206"/>
            <a:ext cx="113121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Arial"/>
                <a:ea typeface="Microsoft YaHei"/>
                <a:cs typeface="Arial"/>
              </a:rPr>
              <a:t>签署服务验收单</a:t>
            </a:r>
          </a:p>
        </p:txBody>
      </p:sp>
      <p:sp>
        <p:nvSpPr>
          <p:cNvPr id="60" name="TextBox 60"/>
          <p:cNvSpPr txBox="1"/>
          <p:nvPr/>
        </p:nvSpPr>
        <p:spPr>
          <a:xfrm>
            <a:off x="8131492" y="5285899"/>
            <a:ext cx="1753981"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需求发起人 + IT 共同确认签署</a:t>
            </a:r>
          </a:p>
        </p:txBody>
      </p:sp>
      <p:sp>
        <p:nvSpPr>
          <p:cNvPr id="61" name="Rectangle 61"/>
          <p:cNvSpPr/>
          <p:nvPr/>
        </p:nvSpPr>
        <p:spPr>
          <a:xfrm>
            <a:off x="7715250" y="5715000"/>
            <a:ext cx="3619500" cy="571500"/>
          </a:xfrm>
          <a:prstGeom prst="roundRect">
            <a:avLst>
              <a:gd name="adj" fmla="val 16667"/>
            </a:avLst>
          </a:prstGeom>
          <a:solidFill>
            <a:srgbClr val="D1FAE5"/>
          </a:solidFill>
          <a:ln w="9525">
            <a:solidFill>
              <a:srgbClr val="10B981"/>
            </a:solidFill>
          </a:ln>
        </p:spPr>
      </p:sp>
      <p:sp>
        <p:nvSpPr>
          <p:cNvPr id="62" name="TextBox 62"/>
          <p:cNvSpPr txBox="1"/>
          <p:nvPr/>
        </p:nvSpPr>
        <p:spPr>
          <a:xfrm>
            <a:off x="8610848" y="5852160"/>
            <a:ext cx="1828305" cy="243840"/>
          </a:xfrm>
          <a:prstGeom prst="rect">
            <a:avLst/>
          </a:prstGeom>
          <a:noFill/>
          <a:ln>
            <a:noFill/>
          </a:ln>
        </p:spPr>
        <p:txBody>
          <a:bodyPr wrap="none" lIns="0" tIns="0" rIns="0" bIns="0" anchor="t" anchorCtr="0">
            <a:spAutoFit/>
          </a:bodyPr>
          <a:lstStyle/>
          <a:p>
            <a:pPr algn="ctr"/>
            <a:r>
              <a:rPr lang="zh-CN" sz="1200" b="1" dirty="0">
                <a:solidFill>
                  <a:srgbClr val="059669"/>
                </a:solidFill>
                <a:latin typeface="Arial"/>
                <a:ea typeface="Microsoft YaHei"/>
                <a:cs typeface="Arial"/>
              </a:rPr>
              <a:t>🔷 里程碑: 项目验收通过</a:t>
            </a:r>
          </a:p>
        </p:txBody>
      </p:sp>
      <p:sp>
        <p:nvSpPr>
          <p:cNvPr id="63" name="TextBox 63"/>
          <p:cNvSpPr txBox="1"/>
          <p:nvPr/>
        </p:nvSpPr>
        <p:spPr>
          <a:xfrm>
            <a:off x="8878788" y="6085999"/>
            <a:ext cx="1292423"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目标: 2026年12月31日</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47625"/>
          </a:xfrm>
          <a:prstGeom prst="rect">
            <a:avLst/>
          </a:prstGeom>
          <a:gradFill>
            <a:gsLst>
              <a:gs pos="0">
                <a:srgbClr val="2563EB"/>
              </a:gs>
              <a:gs pos="100000">
                <a:srgbClr val="3B82F6"/>
              </a:gs>
            </a:gsLst>
            <a:lin ang="0" scaled="1"/>
          </a:gradFill>
          <a:ln>
            <a:noFill/>
          </a:ln>
        </p:spPr>
      </p:sp>
      <p:sp>
        <p:nvSpPr>
          <p:cNvPr id="4" name="TextBox 4"/>
          <p:cNvSpPr txBox="1"/>
          <p:nvPr/>
        </p:nvSpPr>
        <p:spPr>
          <a:xfrm>
            <a:off x="544830" y="297180"/>
            <a:ext cx="2699671" cy="426720"/>
          </a:xfrm>
          <a:prstGeom prst="rect">
            <a:avLst/>
          </a:prstGeom>
          <a:noFill/>
          <a:ln>
            <a:noFill/>
          </a:ln>
        </p:spPr>
        <p:txBody>
          <a:bodyPr wrap="none" lIns="0" tIns="0" rIns="0" bIns="0" anchor="t" anchorCtr="0">
            <a:spAutoFit/>
          </a:bodyPr>
          <a:lstStyle/>
          <a:p>
            <a:pPr algn="l"/>
            <a:r>
              <a:rPr lang="zh-CN" sz="2100" b="1" dirty="0">
                <a:solidFill>
                  <a:srgbClr val="1E293B"/>
                </a:solidFill>
                <a:latin typeface="Arial"/>
                <a:ea typeface="Microsoft YaHei"/>
                <a:cs typeface="Arial"/>
              </a:rPr>
              <a:t>项目成果与关键指标</a:t>
            </a:r>
          </a:p>
        </p:txBody>
      </p:sp>
      <p:sp>
        <p:nvSpPr>
          <p:cNvPr id="5" name="TextBox 5"/>
          <p:cNvSpPr txBox="1"/>
          <p:nvPr/>
        </p:nvSpPr>
        <p:spPr>
          <a:xfrm>
            <a:off x="557212" y="688181"/>
            <a:ext cx="2473881"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PingCode系统实施 · 全生命周期数据</a:t>
            </a:r>
          </a:p>
        </p:txBody>
      </p:sp>
      <p:sp>
        <p:nvSpPr>
          <p:cNvPr id="6" name="TextBox 6"/>
          <p:cNvSpPr txBox="1"/>
          <p:nvPr/>
        </p:nvSpPr>
        <p:spPr>
          <a:xfrm>
            <a:off x="11393591" y="418624"/>
            <a:ext cx="239292"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P07</a:t>
            </a:r>
          </a:p>
        </p:txBody>
      </p:sp>
      <p:grpSp>
        <p:nvGrpSpPr>
          <p:cNvPr id="27" name="Group 27"/>
          <p:cNvGrpSpPr/>
          <p:nvPr/>
        </p:nvGrpSpPr>
        <p:grpSpPr>
          <a:xfrm>
            <a:off x="571500" y="1143000"/>
            <a:ext cx="11049000" cy="1714500"/>
            <a:chOff x="571500" y="1143000"/>
            <a:chExt cx="11049000" cy="1714500"/>
          </a:xfrm>
          <a:effectLst>
            <a:outerShdw blurRad="114300" dist="28575" dir="5400000" algn="ctr" rotWithShape="0">
              <a:srgbClr val="0F172A">
                <a:alpha val="4500"/>
              </a:srgbClr>
            </a:outerShdw>
          </a:effectLst>
        </p:grpSpPr>
        <p:sp>
          <p:nvSpPr>
            <p:cNvPr id="7" name="Rectangle 7"/>
            <p:cNvSpPr/>
            <p:nvPr/>
          </p:nvSpPr>
          <p:spPr>
            <a:xfrm>
              <a:off x="571500" y="114300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8" name="Rectangle 8"/>
            <p:cNvSpPr/>
            <p:nvPr/>
          </p:nvSpPr>
          <p:spPr>
            <a:xfrm>
              <a:off x="723900" y="1333500"/>
              <a:ext cx="47625" cy="571500"/>
            </a:xfrm>
            <a:prstGeom prst="roundRect">
              <a:avLst>
                <a:gd name="adj" fmla="val 50000"/>
              </a:avLst>
            </a:prstGeom>
            <a:solidFill>
              <a:srgbClr val="2563EB"/>
            </a:solidFill>
            <a:ln>
              <a:noFill/>
            </a:ln>
            <a:effectLst>
              <a:outerShdw blurRad="114300" dist="28575" dir="5400000" algn="ctr" rotWithShape="0">
                <a:srgbClr val="0F172A">
                  <a:alpha val="4500"/>
                </a:srgbClr>
              </a:outerShdw>
            </a:effectLst>
          </p:spPr>
        </p:sp>
        <p:sp>
          <p:nvSpPr>
            <p:cNvPr id="9" name="TextBox 9"/>
            <p:cNvSpPr txBox="1"/>
            <p:nvPr/>
          </p:nvSpPr>
          <p:spPr>
            <a:xfrm>
              <a:off x="938212" y="1450181"/>
              <a:ext cx="65865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总任务数</a:t>
              </a:r>
            </a:p>
          </p:txBody>
        </p:sp>
        <p:sp>
          <p:nvSpPr>
            <p:cNvPr id="10" name="TextBox 10"/>
            <p:cNvSpPr txBox="1"/>
            <p:nvPr/>
          </p:nvSpPr>
          <p:spPr>
            <a:xfrm>
              <a:off x="940118" y="1656874"/>
              <a:ext cx="954381"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WBS 工作项总数</a:t>
              </a:r>
            </a:p>
          </p:txBody>
        </p:sp>
        <p:sp>
          <p:nvSpPr>
            <p:cNvPr id="11" name="TextBox 11"/>
            <p:cNvSpPr txBox="1"/>
            <p:nvPr/>
          </p:nvSpPr>
          <p:spPr>
            <a:xfrm>
              <a:off x="899160" y="1975485"/>
              <a:ext cx="606542" cy="85344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4200" b="1" dirty="0">
                  <a:solidFill>
                    <a:srgbClr val="1E293B"/>
                  </a:solidFill>
                  <a:latin typeface="Arial"/>
                  <a:ea typeface="Microsoft YaHei"/>
                  <a:cs typeface="Arial"/>
                </a:rPr>
                <a:t>19</a:t>
              </a:r>
            </a:p>
          </p:txBody>
        </p:sp>
        <p:sp>
          <p:nvSpPr>
            <p:cNvPr id="12" name="Ellipse 12"/>
            <p:cNvSpPr/>
            <p:nvPr/>
          </p:nvSpPr>
          <p:spPr>
            <a:xfrm>
              <a:off x="962025" y="2533650"/>
              <a:ext cx="266700" cy="266700"/>
            </a:xfrm>
            <a:prstGeom prst="ellipse">
              <a:avLst/>
            </a:prstGeom>
            <a:solidFill>
              <a:srgbClr val="ECFDF5"/>
            </a:solidFill>
            <a:ln>
              <a:noFill/>
            </a:ln>
            <a:effectLst>
              <a:outerShdw blurRad="114300" dist="28575" dir="5400000" algn="ctr" rotWithShape="0">
                <a:srgbClr val="0F172A">
                  <a:alpha val="4500"/>
                </a:srgbClr>
              </a:outerShdw>
            </a:effectLst>
          </p:spPr>
        </p:sp>
        <p:sp>
          <p:nvSpPr>
            <p:cNvPr id="13" name="TextBox 13"/>
            <p:cNvSpPr txBox="1"/>
            <p:nvPr/>
          </p:nvSpPr>
          <p:spPr>
            <a:xfrm>
              <a:off x="994136" y="2625566"/>
              <a:ext cx="202478" cy="16764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ctr"/>
              <a:r>
                <a:rPr lang="zh-CN" sz="825" dirty="0">
                  <a:solidFill>
                    <a:srgbClr val="10B981"/>
                  </a:solidFill>
                  <a:latin typeface="Arial"/>
                  <a:ea typeface="Microsoft YaHei"/>
                  <a:cs typeface="Arial"/>
                </a:rPr>
                <a:t>ALL</a:t>
              </a:r>
            </a:p>
          </p:txBody>
        </p:sp>
        <p:sp>
          <p:nvSpPr>
            <p:cNvPr id="14" name="TextBox 14"/>
            <p:cNvSpPr txBox="1"/>
            <p:nvPr/>
          </p:nvSpPr>
          <p:spPr>
            <a:xfrm>
              <a:off x="1320165" y="2610802"/>
              <a:ext cx="908780" cy="21336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050" b="1" dirty="0">
                  <a:solidFill>
                    <a:srgbClr val="10B981"/>
                  </a:solidFill>
                  <a:latin typeface="Arial"/>
                  <a:ea typeface="Microsoft YaHei"/>
                  <a:cs typeface="Arial"/>
                </a:rPr>
                <a:t>全部创建完成</a:t>
              </a:r>
            </a:p>
          </p:txBody>
        </p:sp>
        <p:sp>
          <p:nvSpPr>
            <p:cNvPr id="15" name="Rectangle 15"/>
            <p:cNvSpPr/>
            <p:nvPr/>
          </p:nvSpPr>
          <p:spPr>
            <a:xfrm>
              <a:off x="4381500" y="114300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16" name="Rectangle 16"/>
            <p:cNvSpPr/>
            <p:nvPr/>
          </p:nvSpPr>
          <p:spPr>
            <a:xfrm>
              <a:off x="4533900" y="1333500"/>
              <a:ext cx="47625" cy="571500"/>
            </a:xfrm>
            <a:prstGeom prst="roundRect">
              <a:avLst>
                <a:gd name="adj" fmla="val 50000"/>
              </a:avLst>
            </a:prstGeom>
            <a:solidFill>
              <a:srgbClr val="7C3AED"/>
            </a:solidFill>
            <a:ln>
              <a:noFill/>
            </a:ln>
            <a:effectLst>
              <a:outerShdw blurRad="114300" dist="28575" dir="5400000" algn="ctr" rotWithShape="0">
                <a:srgbClr val="0F172A">
                  <a:alpha val="4500"/>
                </a:srgbClr>
              </a:outerShdw>
            </a:effectLst>
          </p:spPr>
        </p:sp>
        <p:sp>
          <p:nvSpPr>
            <p:cNvPr id="17" name="TextBox 17"/>
            <p:cNvSpPr txBox="1"/>
            <p:nvPr/>
          </p:nvSpPr>
          <p:spPr>
            <a:xfrm>
              <a:off x="4748212" y="1450181"/>
              <a:ext cx="50113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阶段数</a:t>
              </a:r>
            </a:p>
          </p:txBody>
        </p:sp>
        <p:sp>
          <p:nvSpPr>
            <p:cNvPr id="18" name="TextBox 18"/>
            <p:cNvSpPr txBox="1"/>
            <p:nvPr/>
          </p:nvSpPr>
          <p:spPr>
            <a:xfrm>
              <a:off x="4750118" y="1656874"/>
              <a:ext cx="544830"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管理粒度</a:t>
              </a:r>
            </a:p>
          </p:txBody>
        </p:sp>
        <p:sp>
          <p:nvSpPr>
            <p:cNvPr id="19" name="TextBox 19"/>
            <p:cNvSpPr txBox="1"/>
            <p:nvPr/>
          </p:nvSpPr>
          <p:spPr>
            <a:xfrm>
              <a:off x="4709160" y="1975485"/>
              <a:ext cx="430120" cy="85344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4200" b="1" dirty="0">
                  <a:solidFill>
                    <a:srgbClr val="1E293B"/>
                  </a:solidFill>
                  <a:latin typeface="Arial"/>
                  <a:ea typeface="Microsoft YaHei"/>
                  <a:cs typeface="Arial"/>
                </a:rPr>
                <a:t>5</a:t>
              </a:r>
            </a:p>
          </p:txBody>
        </p:sp>
        <p:sp>
          <p:nvSpPr>
            <p:cNvPr id="20" name="TextBox 20"/>
            <p:cNvSpPr txBox="1"/>
            <p:nvPr/>
          </p:nvSpPr>
          <p:spPr>
            <a:xfrm>
              <a:off x="4939665" y="2610802"/>
              <a:ext cx="866775" cy="21336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050" dirty="0">
                  <a:solidFill>
                    <a:srgbClr val="64748B"/>
                  </a:solidFill>
                  <a:latin typeface="Arial"/>
                  <a:ea typeface="Microsoft YaHei"/>
                  <a:cs typeface="Arial"/>
                </a:rPr>
                <a:t>阶段覆盖完整</a:t>
              </a:r>
            </a:p>
          </p:txBody>
        </p:sp>
        <p:sp>
          <p:nvSpPr>
            <p:cNvPr id="21" name="Rectangle 21"/>
            <p:cNvSpPr/>
            <p:nvPr/>
          </p:nvSpPr>
          <p:spPr>
            <a:xfrm>
              <a:off x="8191500" y="114300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22" name="Rectangle 22"/>
            <p:cNvSpPr/>
            <p:nvPr/>
          </p:nvSpPr>
          <p:spPr>
            <a:xfrm>
              <a:off x="8343900" y="1333500"/>
              <a:ext cx="47625" cy="571500"/>
            </a:xfrm>
            <a:prstGeom prst="roundRect">
              <a:avLst>
                <a:gd name="adj" fmla="val 50000"/>
              </a:avLst>
            </a:prstGeom>
            <a:solidFill>
              <a:srgbClr val="F59E0B"/>
            </a:solidFill>
            <a:ln>
              <a:noFill/>
            </a:ln>
            <a:effectLst>
              <a:outerShdw blurRad="114300" dist="28575" dir="5400000" algn="ctr" rotWithShape="0">
                <a:srgbClr val="0F172A">
                  <a:alpha val="4500"/>
                </a:srgbClr>
              </a:outerShdw>
            </a:effectLst>
          </p:spPr>
        </p:sp>
        <p:sp>
          <p:nvSpPr>
            <p:cNvPr id="23" name="TextBox 23"/>
            <p:cNvSpPr txBox="1"/>
            <p:nvPr/>
          </p:nvSpPr>
          <p:spPr>
            <a:xfrm>
              <a:off x="8558212" y="1450181"/>
              <a:ext cx="50113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里程碑</a:t>
              </a:r>
            </a:p>
          </p:txBody>
        </p:sp>
        <p:sp>
          <p:nvSpPr>
            <p:cNvPr id="24" name="TextBox 24"/>
            <p:cNvSpPr txBox="1"/>
            <p:nvPr/>
          </p:nvSpPr>
          <p:spPr>
            <a:xfrm>
              <a:off x="8560118" y="1656874"/>
              <a:ext cx="544830"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关键节点</a:t>
              </a:r>
            </a:p>
          </p:txBody>
        </p:sp>
        <p:sp>
          <p:nvSpPr>
            <p:cNvPr id="25" name="TextBox 25"/>
            <p:cNvSpPr txBox="1"/>
            <p:nvPr/>
          </p:nvSpPr>
          <p:spPr>
            <a:xfrm>
              <a:off x="8519160" y="1975485"/>
              <a:ext cx="430120" cy="85344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4200" b="1" dirty="0">
                  <a:solidFill>
                    <a:srgbClr val="1E293B"/>
                  </a:solidFill>
                  <a:latin typeface="Arial"/>
                  <a:ea typeface="Microsoft YaHei"/>
                  <a:cs typeface="Arial"/>
                </a:rPr>
                <a:t>6</a:t>
              </a:r>
            </a:p>
          </p:txBody>
        </p:sp>
        <p:sp>
          <p:nvSpPr>
            <p:cNvPr id="26" name="TextBox 26"/>
            <p:cNvSpPr txBox="1"/>
            <p:nvPr/>
          </p:nvSpPr>
          <p:spPr>
            <a:xfrm>
              <a:off x="8749665" y="2610802"/>
              <a:ext cx="866775" cy="21336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050" dirty="0">
                  <a:solidFill>
                    <a:srgbClr val="64748B"/>
                  </a:solidFill>
                  <a:latin typeface="Arial"/>
                  <a:ea typeface="Microsoft YaHei"/>
                  <a:cs typeface="Arial"/>
                </a:rPr>
                <a:t>节点全部设定</a:t>
              </a:r>
            </a:p>
          </p:txBody>
        </p:sp>
      </p:grpSp>
      <p:grpSp>
        <p:nvGrpSpPr>
          <p:cNvPr id="46" name="Group 46"/>
          <p:cNvGrpSpPr/>
          <p:nvPr/>
        </p:nvGrpSpPr>
        <p:grpSpPr>
          <a:xfrm>
            <a:off x="571500" y="3143250"/>
            <a:ext cx="11049000" cy="1714500"/>
            <a:chOff x="571500" y="3143250"/>
            <a:chExt cx="11049000" cy="1714500"/>
          </a:xfrm>
          <a:effectLst>
            <a:outerShdw blurRad="114300" dist="28575" dir="5400000" algn="ctr" rotWithShape="0">
              <a:srgbClr val="0F172A">
                <a:alpha val="4500"/>
              </a:srgbClr>
            </a:outerShdw>
          </a:effectLst>
        </p:grpSpPr>
        <p:sp>
          <p:nvSpPr>
            <p:cNvPr id="28" name="Rectangle 28"/>
            <p:cNvSpPr/>
            <p:nvPr/>
          </p:nvSpPr>
          <p:spPr>
            <a:xfrm>
              <a:off x="571500" y="314325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29" name="Rectangle 29"/>
            <p:cNvSpPr/>
            <p:nvPr/>
          </p:nvSpPr>
          <p:spPr>
            <a:xfrm>
              <a:off x="723900" y="3333750"/>
              <a:ext cx="47625" cy="571500"/>
            </a:xfrm>
            <a:prstGeom prst="roundRect">
              <a:avLst>
                <a:gd name="adj" fmla="val 50000"/>
              </a:avLst>
            </a:prstGeom>
            <a:solidFill>
              <a:srgbClr val="10B981"/>
            </a:solidFill>
            <a:ln>
              <a:noFill/>
            </a:ln>
            <a:effectLst>
              <a:outerShdw blurRad="114300" dist="28575" dir="5400000" algn="ctr" rotWithShape="0">
                <a:srgbClr val="0F172A">
                  <a:alpha val="4500"/>
                </a:srgbClr>
              </a:outerShdw>
            </a:effectLst>
          </p:spPr>
        </p:sp>
        <p:sp>
          <p:nvSpPr>
            <p:cNvPr id="30" name="TextBox 30"/>
            <p:cNvSpPr txBox="1"/>
            <p:nvPr/>
          </p:nvSpPr>
          <p:spPr>
            <a:xfrm>
              <a:off x="938212" y="3450431"/>
              <a:ext cx="65865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项目周期</a:t>
              </a:r>
            </a:p>
          </p:txBody>
        </p:sp>
        <p:sp>
          <p:nvSpPr>
            <p:cNvPr id="31" name="TextBox 31"/>
            <p:cNvSpPr txBox="1"/>
            <p:nvPr/>
          </p:nvSpPr>
          <p:spPr>
            <a:xfrm>
              <a:off x="940118" y="3657124"/>
              <a:ext cx="804862"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预计持续时长</a:t>
              </a:r>
            </a:p>
          </p:txBody>
        </p:sp>
        <p:sp>
          <p:nvSpPr>
            <p:cNvPr id="32" name="TextBox 32"/>
            <p:cNvSpPr txBox="1"/>
            <p:nvPr/>
          </p:nvSpPr>
          <p:spPr>
            <a:xfrm>
              <a:off x="914400" y="4105275"/>
              <a:ext cx="1378363" cy="609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3000" b="1" dirty="0">
                  <a:solidFill>
                    <a:srgbClr val="1E293B"/>
                  </a:solidFill>
                  <a:latin typeface="Arial"/>
                  <a:ea typeface="Microsoft YaHei"/>
                  <a:cs typeface="Arial"/>
                </a:rPr>
                <a:t>~7个月</a:t>
              </a:r>
            </a:p>
          </p:txBody>
        </p:sp>
        <p:sp>
          <p:nvSpPr>
            <p:cNvPr id="33" name="TextBox 33"/>
            <p:cNvSpPr txBox="1"/>
            <p:nvPr/>
          </p:nvSpPr>
          <p:spPr>
            <a:xfrm>
              <a:off x="940118" y="4619149"/>
              <a:ext cx="1142905"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2026.05 — 2026.12</a:t>
              </a:r>
            </a:p>
          </p:txBody>
        </p:sp>
        <p:sp>
          <p:nvSpPr>
            <p:cNvPr id="34" name="Rectangle 34"/>
            <p:cNvSpPr/>
            <p:nvPr/>
          </p:nvSpPr>
          <p:spPr>
            <a:xfrm>
              <a:off x="4381500" y="314325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35" name="Rectangle 35"/>
            <p:cNvSpPr/>
            <p:nvPr/>
          </p:nvSpPr>
          <p:spPr>
            <a:xfrm>
              <a:off x="4533900" y="3333750"/>
              <a:ext cx="47625" cy="571500"/>
            </a:xfrm>
            <a:prstGeom prst="roundRect">
              <a:avLst>
                <a:gd name="adj" fmla="val 50000"/>
              </a:avLst>
            </a:prstGeom>
            <a:solidFill>
              <a:srgbClr val="EF4444"/>
            </a:solidFill>
            <a:ln>
              <a:noFill/>
            </a:ln>
            <a:effectLst>
              <a:outerShdw blurRad="114300" dist="28575" dir="5400000" algn="ctr" rotWithShape="0">
                <a:srgbClr val="0F172A">
                  <a:alpha val="4500"/>
                </a:srgbClr>
              </a:outerShdw>
            </a:effectLst>
          </p:spPr>
        </p:sp>
        <p:sp>
          <p:nvSpPr>
            <p:cNvPr id="36" name="TextBox 36"/>
            <p:cNvSpPr txBox="1"/>
            <p:nvPr/>
          </p:nvSpPr>
          <p:spPr>
            <a:xfrm>
              <a:off x="4748212" y="3450431"/>
              <a:ext cx="65865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系统上线</a:t>
              </a:r>
            </a:p>
          </p:txBody>
        </p:sp>
        <p:sp>
          <p:nvSpPr>
            <p:cNvPr id="37" name="TextBox 37"/>
            <p:cNvSpPr txBox="1"/>
            <p:nvPr/>
          </p:nvSpPr>
          <p:spPr>
            <a:xfrm>
              <a:off x="4750118" y="3657124"/>
              <a:ext cx="674846"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里程碑时间</a:t>
              </a:r>
            </a:p>
          </p:txBody>
        </p:sp>
        <p:sp>
          <p:nvSpPr>
            <p:cNvPr id="38" name="TextBox 38"/>
            <p:cNvSpPr txBox="1"/>
            <p:nvPr/>
          </p:nvSpPr>
          <p:spPr>
            <a:xfrm>
              <a:off x="4733925" y="4186238"/>
              <a:ext cx="1789867" cy="4572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2250" b="1" dirty="0">
                  <a:solidFill>
                    <a:srgbClr val="1E293B"/>
                  </a:solidFill>
                  <a:latin typeface="Arial"/>
                  <a:ea typeface="Microsoft YaHei"/>
                  <a:cs typeface="Arial"/>
                </a:rPr>
                <a:t>2026.06.30</a:t>
              </a:r>
            </a:p>
          </p:txBody>
        </p:sp>
        <p:sp>
          <p:nvSpPr>
            <p:cNvPr id="39" name="TextBox 39"/>
            <p:cNvSpPr txBox="1"/>
            <p:nvPr/>
          </p:nvSpPr>
          <p:spPr>
            <a:xfrm>
              <a:off x="4750118" y="4619149"/>
              <a:ext cx="804862"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正式切换上线</a:t>
              </a:r>
            </a:p>
          </p:txBody>
        </p:sp>
        <p:sp>
          <p:nvSpPr>
            <p:cNvPr id="40" name="Rectangle 40"/>
            <p:cNvSpPr/>
            <p:nvPr/>
          </p:nvSpPr>
          <p:spPr>
            <a:xfrm>
              <a:off x="8191500" y="3143250"/>
              <a:ext cx="3429000" cy="1714500"/>
            </a:xfrm>
            <a:prstGeom prst="roundRect">
              <a:avLst>
                <a:gd name="adj" fmla="val 6667"/>
              </a:avLst>
            </a:prstGeom>
            <a:solidFill>
              <a:srgbClr val="FFFFFF"/>
            </a:solidFill>
            <a:ln w="9525">
              <a:solidFill>
                <a:srgbClr val="E2E8F0"/>
              </a:solidFill>
            </a:ln>
            <a:effectLst>
              <a:outerShdw blurRad="114300" dist="28575" dir="5400000" algn="ctr" rotWithShape="0">
                <a:srgbClr val="0F172A">
                  <a:alpha val="4500"/>
                </a:srgbClr>
              </a:outerShdw>
            </a:effectLst>
          </p:spPr>
        </p:sp>
        <p:sp>
          <p:nvSpPr>
            <p:cNvPr id="41" name="Rectangle 41"/>
            <p:cNvSpPr/>
            <p:nvPr/>
          </p:nvSpPr>
          <p:spPr>
            <a:xfrm>
              <a:off x="8343900" y="3333750"/>
              <a:ext cx="47625" cy="571500"/>
            </a:xfrm>
            <a:prstGeom prst="roundRect">
              <a:avLst>
                <a:gd name="adj" fmla="val 50000"/>
              </a:avLst>
            </a:prstGeom>
            <a:solidFill>
              <a:srgbClr val="3B82F6"/>
            </a:solidFill>
            <a:ln>
              <a:noFill/>
            </a:ln>
            <a:effectLst>
              <a:outerShdw blurRad="114300" dist="28575" dir="5400000" algn="ctr" rotWithShape="0">
                <a:srgbClr val="0F172A">
                  <a:alpha val="4500"/>
                </a:srgbClr>
              </a:outerShdw>
            </a:effectLst>
          </p:spPr>
        </p:sp>
        <p:sp>
          <p:nvSpPr>
            <p:cNvPr id="42" name="TextBox 42"/>
            <p:cNvSpPr txBox="1"/>
            <p:nvPr/>
          </p:nvSpPr>
          <p:spPr>
            <a:xfrm>
              <a:off x="8558212" y="3450431"/>
              <a:ext cx="501134" cy="228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1125" b="1" dirty="0">
                  <a:solidFill>
                    <a:srgbClr val="475569"/>
                  </a:solidFill>
                  <a:latin typeface="Arial"/>
                  <a:ea typeface="Microsoft YaHei"/>
                  <a:cs typeface="Arial"/>
                </a:rPr>
                <a:t>管理员</a:t>
              </a:r>
            </a:p>
          </p:txBody>
        </p:sp>
        <p:sp>
          <p:nvSpPr>
            <p:cNvPr id="43" name="TextBox 43"/>
            <p:cNvSpPr txBox="1"/>
            <p:nvPr/>
          </p:nvSpPr>
          <p:spPr>
            <a:xfrm>
              <a:off x="8560118" y="3657124"/>
              <a:ext cx="544830"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94A3B8"/>
                  </a:solidFill>
                  <a:latin typeface="Arial"/>
                  <a:ea typeface="Microsoft YaHei"/>
                  <a:cs typeface="Arial"/>
                </a:rPr>
                <a:t>项目经理</a:t>
              </a:r>
            </a:p>
          </p:txBody>
        </p:sp>
        <p:sp>
          <p:nvSpPr>
            <p:cNvPr id="44" name="TextBox 44"/>
            <p:cNvSpPr txBox="1"/>
            <p:nvPr/>
          </p:nvSpPr>
          <p:spPr>
            <a:xfrm>
              <a:off x="8534400" y="4105275"/>
              <a:ext cx="916305" cy="60960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3000" b="1" dirty="0">
                  <a:solidFill>
                    <a:srgbClr val="1E293B"/>
                  </a:solidFill>
                  <a:latin typeface="Arial"/>
                  <a:ea typeface="Microsoft YaHei"/>
                  <a:cs typeface="Arial"/>
                </a:rPr>
                <a:t>小冯</a:t>
              </a:r>
            </a:p>
          </p:txBody>
        </p:sp>
        <p:sp>
          <p:nvSpPr>
            <p:cNvPr id="45" name="TextBox 45"/>
            <p:cNvSpPr txBox="1"/>
            <p:nvPr/>
          </p:nvSpPr>
          <p:spPr>
            <a:xfrm>
              <a:off x="8560118" y="4619149"/>
              <a:ext cx="674846" cy="198120"/>
            </a:xfrm>
            <a:prstGeom prst="rect">
              <a:avLst/>
            </a:prstGeom>
            <a:noFill/>
            <a:ln>
              <a:noFill/>
            </a:ln>
            <a:effectLst>
              <a:outerShdw blurRad="114300" dist="28575" dir="5400000" algn="ctr" rotWithShape="0">
                <a:srgbClr val="0F172A">
                  <a:alpha val="4500"/>
                </a:srgbClr>
              </a:outerShdw>
            </a:effectLst>
          </p:spPr>
          <p:txBody>
            <a:bodyPr wrap="none" lIns="0" tIns="0" rIns="0" bIns="0" anchor="t" anchorCtr="0">
              <a:spAutoFit/>
            </a:bodyPr>
            <a:lstStyle/>
            <a:p>
              <a:pPr algn="l"/>
              <a:r>
                <a:rPr lang="zh-CN" sz="975" dirty="0">
                  <a:solidFill>
                    <a:srgbClr val="64748B"/>
                  </a:solidFill>
                  <a:latin typeface="Arial"/>
                  <a:ea typeface="Microsoft YaHei"/>
                  <a:cs typeface="Arial"/>
                </a:rPr>
                <a:t>项目管理员</a:t>
              </a:r>
            </a:p>
          </p:txBody>
        </p:sp>
      </p:grpSp>
      <p:sp>
        <p:nvSpPr>
          <p:cNvPr id="47" name="TextBox 47"/>
          <p:cNvSpPr txBox="1"/>
          <p:nvPr/>
        </p:nvSpPr>
        <p:spPr>
          <a:xfrm>
            <a:off x="556260" y="5204460"/>
            <a:ext cx="870585" cy="243840"/>
          </a:xfrm>
          <a:prstGeom prst="rect">
            <a:avLst/>
          </a:prstGeom>
          <a:noFill/>
          <a:ln>
            <a:noFill/>
          </a:ln>
        </p:spPr>
        <p:txBody>
          <a:bodyPr wrap="none" lIns="0" tIns="0" rIns="0" bIns="0" anchor="t" anchorCtr="0">
            <a:spAutoFit/>
          </a:bodyPr>
          <a:lstStyle/>
          <a:p>
            <a:pPr algn="l"/>
            <a:r>
              <a:rPr lang="zh-CN" sz="1200" b="1" dirty="0">
                <a:solidFill>
                  <a:srgbClr val="1E293B"/>
                </a:solidFill>
                <a:latin typeface="Arial"/>
                <a:ea typeface="Microsoft YaHei"/>
                <a:cs typeface="Arial"/>
              </a:rPr>
              <a:t>核心交付物</a:t>
            </a:r>
          </a:p>
        </p:txBody>
      </p:sp>
      <p:grpSp>
        <p:nvGrpSpPr>
          <p:cNvPr id="60" name="Group 60"/>
          <p:cNvGrpSpPr/>
          <p:nvPr/>
        </p:nvGrpSpPr>
        <p:grpSpPr>
          <a:xfrm>
            <a:off x="571500" y="5524500"/>
            <a:ext cx="9334500" cy="904875"/>
            <a:chOff x="571500" y="5524500"/>
            <a:chExt cx="9334500" cy="904875"/>
          </a:xfrm>
        </p:grpSpPr>
        <p:sp>
          <p:nvSpPr>
            <p:cNvPr id="48" name="Rectangle 48"/>
            <p:cNvSpPr/>
            <p:nvPr/>
          </p:nvSpPr>
          <p:spPr>
            <a:xfrm>
              <a:off x="571500" y="5524500"/>
              <a:ext cx="2190750" cy="381000"/>
            </a:xfrm>
            <a:prstGeom prst="roundRect">
              <a:avLst>
                <a:gd name="adj" fmla="val 15000"/>
              </a:avLst>
            </a:prstGeom>
            <a:solidFill>
              <a:srgbClr val="EBF0FD"/>
            </a:solidFill>
            <a:ln>
              <a:noFill/>
            </a:ln>
          </p:spPr>
        </p:sp>
        <p:sp>
          <p:nvSpPr>
            <p:cNvPr id="49" name="TextBox 49"/>
            <p:cNvSpPr txBox="1"/>
            <p:nvPr/>
          </p:nvSpPr>
          <p:spPr>
            <a:xfrm>
              <a:off x="1373505" y="5658802"/>
              <a:ext cx="586740"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系统方案</a:t>
              </a:r>
            </a:p>
          </p:txBody>
        </p:sp>
        <p:sp>
          <p:nvSpPr>
            <p:cNvPr id="50" name="Rectangle 50"/>
            <p:cNvSpPr/>
            <p:nvPr/>
          </p:nvSpPr>
          <p:spPr>
            <a:xfrm>
              <a:off x="2952750" y="5524500"/>
              <a:ext cx="2190750" cy="381000"/>
            </a:xfrm>
            <a:prstGeom prst="roundRect">
              <a:avLst>
                <a:gd name="adj" fmla="val 15000"/>
              </a:avLst>
            </a:prstGeom>
            <a:solidFill>
              <a:srgbClr val="EDE9FE"/>
            </a:solidFill>
            <a:ln>
              <a:noFill/>
            </a:ln>
          </p:spPr>
        </p:sp>
        <p:sp>
          <p:nvSpPr>
            <p:cNvPr id="51" name="TextBox 51"/>
            <p:cNvSpPr txBox="1"/>
            <p:nvPr/>
          </p:nvSpPr>
          <p:spPr>
            <a:xfrm>
              <a:off x="3684746" y="5658802"/>
              <a:ext cx="726758"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权限配置表</a:t>
              </a:r>
            </a:p>
          </p:txBody>
        </p:sp>
        <p:sp>
          <p:nvSpPr>
            <p:cNvPr id="52" name="Rectangle 52"/>
            <p:cNvSpPr/>
            <p:nvPr/>
          </p:nvSpPr>
          <p:spPr>
            <a:xfrm>
              <a:off x="5334000" y="5524500"/>
              <a:ext cx="2190750" cy="381000"/>
            </a:xfrm>
            <a:prstGeom prst="roundRect">
              <a:avLst>
                <a:gd name="adj" fmla="val 15000"/>
              </a:avLst>
            </a:prstGeom>
            <a:solidFill>
              <a:srgbClr val="D1FAE5"/>
            </a:solidFill>
            <a:ln>
              <a:noFill/>
            </a:ln>
          </p:spPr>
        </p:sp>
        <p:sp>
          <p:nvSpPr>
            <p:cNvPr id="53" name="TextBox 53"/>
            <p:cNvSpPr txBox="1"/>
            <p:nvPr/>
          </p:nvSpPr>
          <p:spPr>
            <a:xfrm>
              <a:off x="6136005" y="5658802"/>
              <a:ext cx="586740"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用户手册</a:t>
              </a:r>
            </a:p>
          </p:txBody>
        </p:sp>
        <p:sp>
          <p:nvSpPr>
            <p:cNvPr id="54" name="Rectangle 54"/>
            <p:cNvSpPr/>
            <p:nvPr/>
          </p:nvSpPr>
          <p:spPr>
            <a:xfrm>
              <a:off x="7715250" y="5524500"/>
              <a:ext cx="2190750" cy="381000"/>
            </a:xfrm>
            <a:prstGeom prst="roundRect">
              <a:avLst>
                <a:gd name="adj" fmla="val 15000"/>
              </a:avLst>
            </a:prstGeom>
            <a:solidFill>
              <a:srgbClr val="FEF3C7"/>
            </a:solidFill>
            <a:ln>
              <a:noFill/>
            </a:ln>
          </p:spPr>
        </p:sp>
        <p:sp>
          <p:nvSpPr>
            <p:cNvPr id="55" name="TextBox 55"/>
            <p:cNvSpPr txBox="1"/>
            <p:nvPr/>
          </p:nvSpPr>
          <p:spPr>
            <a:xfrm>
              <a:off x="8517255" y="5658802"/>
              <a:ext cx="586740"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使用规范</a:t>
              </a:r>
            </a:p>
          </p:txBody>
        </p:sp>
        <p:sp>
          <p:nvSpPr>
            <p:cNvPr id="56" name="Rectangle 56"/>
            <p:cNvSpPr/>
            <p:nvPr/>
          </p:nvSpPr>
          <p:spPr>
            <a:xfrm>
              <a:off x="571500" y="6048375"/>
              <a:ext cx="2190750" cy="381000"/>
            </a:xfrm>
            <a:prstGeom prst="roundRect">
              <a:avLst>
                <a:gd name="adj" fmla="val 15000"/>
              </a:avLst>
            </a:prstGeom>
            <a:solidFill>
              <a:srgbClr val="FEF2F2"/>
            </a:solidFill>
            <a:ln>
              <a:noFill/>
            </a:ln>
          </p:spPr>
        </p:sp>
        <p:sp>
          <p:nvSpPr>
            <p:cNvPr id="57" name="TextBox 57"/>
            <p:cNvSpPr txBox="1"/>
            <p:nvPr/>
          </p:nvSpPr>
          <p:spPr>
            <a:xfrm>
              <a:off x="1205484" y="6182678"/>
              <a:ext cx="922782"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培训签到表 ×2</a:t>
              </a:r>
            </a:p>
          </p:txBody>
        </p:sp>
        <p:sp>
          <p:nvSpPr>
            <p:cNvPr id="58" name="Rectangle 58"/>
            <p:cNvSpPr/>
            <p:nvPr/>
          </p:nvSpPr>
          <p:spPr>
            <a:xfrm>
              <a:off x="2952750" y="6048375"/>
              <a:ext cx="2190750" cy="381000"/>
            </a:xfrm>
            <a:prstGeom prst="roundRect">
              <a:avLst>
                <a:gd name="adj" fmla="val 15000"/>
              </a:avLst>
            </a:prstGeom>
            <a:solidFill>
              <a:srgbClr val="D1FAE5"/>
            </a:solidFill>
            <a:ln>
              <a:noFill/>
            </a:ln>
          </p:spPr>
        </p:sp>
        <p:sp>
          <p:nvSpPr>
            <p:cNvPr id="59" name="TextBox 59"/>
            <p:cNvSpPr txBox="1"/>
            <p:nvPr/>
          </p:nvSpPr>
          <p:spPr>
            <a:xfrm>
              <a:off x="3684746" y="6182678"/>
              <a:ext cx="726758"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服务验收单</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D4ED8"/>
              </a:gs>
              <a:gs pos="50000">
                <a:srgbClr val="2563EB"/>
              </a:gs>
              <a:gs pos="100000">
                <a:srgbClr val="3B82F6"/>
              </a:gs>
            </a:gsLst>
            <a:lin ang="2700000" scaled="1"/>
          </a:gradFill>
          <a:ln>
            <a:noFill/>
          </a:ln>
        </p:spPr>
      </p:sp>
      <p:sp>
        <p:nvSpPr>
          <p:cNvPr id="3" name="Rectangle 3"/>
          <p:cNvSpPr/>
          <p:nvPr/>
        </p:nvSpPr>
        <p:spPr>
          <a:xfrm>
            <a:off x="0" y="0"/>
            <a:ext cx="12192000" cy="6858000"/>
          </a:xfrm>
          <a:prstGeom prst="rect">
            <a:avLst/>
          </a:prstGeom>
          <a:gradFill>
            <a:gsLst>
              <a:gs pos="0">
                <a:srgbClr val="FFFFFF">
                  <a:alpha val="6000"/>
                </a:srgbClr>
              </a:gs>
              <a:gs pos="100000">
                <a:srgbClr val="FFFFFF">
                  <a:alpha val="0"/>
                </a:srgbClr>
              </a:gs>
            </a:gsLst>
            <a:path path="circle">
              <a:fillToRect l="50000" t="50000" r="50000" b="50000"/>
            </a:path>
          </a:gradFill>
          <a:ln>
            <a:noFill/>
          </a:ln>
        </p:spPr>
      </p:sp>
      <p:sp>
        <p:nvSpPr>
          <p:cNvPr id="4" name="TextBox 4"/>
          <p:cNvSpPr txBox="1"/>
          <p:nvPr/>
        </p:nvSpPr>
        <p:spPr>
          <a:xfrm>
            <a:off x="5362956" y="1767840"/>
            <a:ext cx="1466088" cy="975360"/>
          </a:xfrm>
          <a:prstGeom prst="rect">
            <a:avLst/>
          </a:prstGeom>
          <a:noFill/>
          <a:ln>
            <a:noFill/>
          </a:ln>
        </p:spPr>
        <p:txBody>
          <a:bodyPr wrap="none" lIns="0" tIns="0" rIns="0" bIns="0" anchor="t" anchorCtr="0">
            <a:spAutoFit/>
          </a:bodyPr>
          <a:lstStyle/>
          <a:p>
            <a:pPr algn="ctr"/>
            <a:r>
              <a:rPr lang="zh-CN" sz="4800" b="1" dirty="0">
                <a:solidFill>
                  <a:srgbClr val="FFFFFF"/>
                </a:solidFill>
                <a:latin typeface="Arial"/>
                <a:ea typeface="Microsoft YaHei"/>
                <a:cs typeface="Arial"/>
              </a:rPr>
              <a:t>谢谢</a:t>
            </a:r>
          </a:p>
        </p:txBody>
      </p:sp>
      <p:sp>
        <p:nvSpPr>
          <p:cNvPr id="5" name="TextBox 5"/>
          <p:cNvSpPr txBox="1"/>
          <p:nvPr/>
        </p:nvSpPr>
        <p:spPr>
          <a:xfrm>
            <a:off x="5535978" y="2869882"/>
            <a:ext cx="1120045" cy="335280"/>
          </a:xfrm>
          <a:prstGeom prst="rect">
            <a:avLst/>
          </a:prstGeom>
          <a:noFill/>
          <a:ln>
            <a:noFill/>
          </a:ln>
        </p:spPr>
        <p:txBody>
          <a:bodyPr wrap="none" lIns="0" tIns="0" rIns="0" bIns="0" anchor="t" anchorCtr="0">
            <a:spAutoFit/>
          </a:bodyPr>
          <a:lstStyle/>
          <a:p>
            <a:pPr algn="ctr"/>
            <a:r>
              <a:rPr lang="zh-CN" sz="1650" dirty="0">
                <a:solidFill>
                  <a:srgbClr val="BFDBFE"/>
                </a:solidFill>
                <a:latin typeface="Arial"/>
                <a:ea typeface="Microsoft YaHei"/>
                <a:cs typeface="Arial"/>
              </a:rPr>
              <a:t>THANK YOU</a:t>
            </a:r>
          </a:p>
        </p:txBody>
      </p:sp>
      <p:sp>
        <p:nvSpPr>
          <p:cNvPr id="6" name="Rectangle 6"/>
          <p:cNvSpPr/>
          <p:nvPr/>
        </p:nvSpPr>
        <p:spPr>
          <a:xfrm>
            <a:off x="4762500" y="3429000"/>
            <a:ext cx="2667000" cy="19050"/>
          </a:xfrm>
          <a:prstGeom prst="roundRect">
            <a:avLst>
              <a:gd name="adj" fmla="val 50000"/>
            </a:avLst>
          </a:prstGeom>
          <a:solidFill>
            <a:srgbClr val="60A5FA">
              <a:alpha val="30000"/>
            </a:srgbClr>
          </a:solidFill>
          <a:ln>
            <a:noFill/>
          </a:ln>
        </p:spPr>
      </p:sp>
      <p:sp>
        <p:nvSpPr>
          <p:cNvPr id="7" name="TextBox 7"/>
          <p:cNvSpPr txBox="1"/>
          <p:nvPr/>
        </p:nvSpPr>
        <p:spPr>
          <a:xfrm>
            <a:off x="4746784" y="3933825"/>
            <a:ext cx="2698432" cy="304800"/>
          </a:xfrm>
          <a:prstGeom prst="rect">
            <a:avLst/>
          </a:prstGeom>
          <a:noFill/>
          <a:ln>
            <a:noFill/>
          </a:ln>
        </p:spPr>
        <p:txBody>
          <a:bodyPr wrap="none" lIns="0" tIns="0" rIns="0" bIns="0" anchor="t" anchorCtr="0">
            <a:spAutoFit/>
          </a:bodyPr>
          <a:lstStyle/>
          <a:p>
            <a:pPr algn="ctr"/>
            <a:r>
              <a:rPr lang="zh-CN" sz="1500" dirty="0">
                <a:solidFill>
                  <a:srgbClr val="93C5FD"/>
                </a:solidFill>
                <a:latin typeface="Arial"/>
                <a:ea typeface="Microsoft YaHei"/>
                <a:cs typeface="Arial"/>
              </a:rPr>
              <a:t>PingCode系统实施 · 项目总结</a:t>
            </a:r>
          </a:p>
        </p:txBody>
      </p:sp>
      <p:sp>
        <p:nvSpPr>
          <p:cNvPr id="8" name="TextBox 8"/>
          <p:cNvSpPr txBox="1"/>
          <p:nvPr/>
        </p:nvSpPr>
        <p:spPr>
          <a:xfrm>
            <a:off x="4608576" y="4442460"/>
            <a:ext cx="2974848" cy="243840"/>
          </a:xfrm>
          <a:prstGeom prst="rect">
            <a:avLst/>
          </a:prstGeom>
          <a:noFill/>
          <a:ln>
            <a:noFill/>
          </a:ln>
        </p:spPr>
        <p:txBody>
          <a:bodyPr wrap="none" lIns="0" tIns="0" rIns="0" bIns="0" anchor="t" anchorCtr="0">
            <a:spAutoFit/>
          </a:bodyPr>
          <a:lstStyle/>
          <a:p>
            <a:pPr algn="ctr"/>
            <a:r>
              <a:rPr lang="zh-CN" sz="1200" dirty="0">
                <a:solidFill>
                  <a:srgbClr val="60A5FA"/>
                </a:solidFill>
                <a:latin typeface="Arial"/>
                <a:ea typeface="Microsoft YaHei"/>
                <a:cs typeface="Arial"/>
              </a:rPr>
              <a:t>金溢科技 | 项目管理员: 小冯 | 2026年6月</a:t>
            </a:r>
          </a:p>
        </p:txBody>
      </p:sp>
      <p:sp>
        <p:nvSpPr>
          <p:cNvPr id="9" name="TextBox 9"/>
          <p:cNvSpPr txBox="1"/>
          <p:nvPr/>
        </p:nvSpPr>
        <p:spPr>
          <a:xfrm>
            <a:off x="5792129" y="4934902"/>
            <a:ext cx="607743" cy="213360"/>
          </a:xfrm>
          <a:prstGeom prst="rect">
            <a:avLst/>
          </a:prstGeom>
          <a:noFill/>
          <a:ln>
            <a:noFill/>
          </a:ln>
        </p:spPr>
        <p:txBody>
          <a:bodyPr wrap="none" lIns="0" tIns="0" rIns="0" bIns="0" anchor="t" anchorCtr="0">
            <a:spAutoFit/>
          </a:bodyPr>
          <a:lstStyle/>
          <a:p>
            <a:pPr algn="ctr"/>
            <a:r>
              <a:rPr lang="zh-CN" sz="1050" dirty="0">
                <a:solidFill>
                  <a:srgbClr val="3B82F6">
                    <a:alphaMod val="50000"/>
                  </a:srgbClr>
                </a:solidFill>
                <a:latin typeface="Arial"/>
                <a:ea typeface="Microsoft YaHei"/>
                <a:cs typeface="Arial"/>
              </a:rPr>
              <a:t>pingcode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image">
                                      <p:cBhvr>
                                        <p:cTn id="19" dur="400"/>
                                        <p:tgtEl>
                                          <p:spTgt spid="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lide(fromBottom)">
                                      <p:cBhvr>
                                        <p:cTn id="31" dur="400"/>
                                        <p:tgtEl>
                                          <p:spTgt spid="8"/>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image">
                                      <p:cBhvr>
                                        <p:cTn id="3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