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5F"/>
              </a:gs>
              <a:gs pos="50000">
                <a:srgbClr val="2563EB"/>
              </a:gs>
              <a:gs pos="100000">
                <a:srgbClr val="3B82F6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6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4191000" y="2476500"/>
            <a:ext cx="3810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59E0B">
                  <a:alpha val="90000"/>
                </a:srgbClr>
              </a:gs>
              <a:gs pos="100000">
                <a:srgbClr val="FBBF24">
                  <a:alpha val="9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034028" y="1706880"/>
            <a:ext cx="41239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智能硬件项目管理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29225" y="2726055"/>
            <a:ext cx="17335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BFDBFE"/>
                </a:solidFill>
                <a:latin typeface="Arial"/>
                <a:ea typeface="Microsoft YaHei"/>
                <a:cs typeface="Arial"/>
              </a:rPr>
              <a:t>项目进展汇报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429000"/>
            <a:ext cx="1905000" cy="19050"/>
          </a:xfrm>
          <a:prstGeom prst="roundRect">
            <a:avLst>
              <a:gd name="adj" fmla="val 50000"/>
            </a:avLst>
          </a:prstGeom>
          <a:solidFill>
            <a:srgbClr val="60A5FA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021223" y="3854768"/>
            <a:ext cx="21495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ZNY · Hybrid · 2026年5月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3B82F6">
              <a:alpha val="3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59118" y="6514624"/>
            <a:ext cx="27551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0A5FA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项目管理员: 小冯 | 类型: 混合项目 | 标识: ZNY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26095" y="6514624"/>
            <a:ext cx="206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0A5FA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P01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3B82F6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9118" y="4186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项目总览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93591" y="41862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1020" y="788670"/>
            <a:ext cx="27492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智能硬件项目管理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1280160"/>
            <a:ext cx="31988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ZNY · 混合项目 · 生命周期: 需求设计 → EOL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809750"/>
            <a:ext cx="11049000" cy="3448050"/>
            <a:chOff x="571500" y="1809750"/>
            <a:chExt cx="11049000" cy="34480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8" name="Rectangle 8"/>
            <p:cNvSpPr/>
            <p:nvPr/>
          </p:nvSpPr>
          <p:spPr>
            <a:xfrm>
              <a:off x="571500" y="1809750"/>
              <a:ext cx="533400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723900" y="2000250"/>
              <a:ext cx="47625" cy="5715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938212" y="2116931"/>
              <a:ext cx="658654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总工作项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0118" y="2352199"/>
              <a:ext cx="1643467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任务 + 里程碑 + 需求 + 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9160" y="2594610"/>
              <a:ext cx="606542" cy="8534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91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71700" y="2886075"/>
              <a:ext cx="238125" cy="3048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个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1809750"/>
              <a:ext cx="533400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5" name="Rectangle 15"/>
            <p:cNvSpPr/>
            <p:nvPr/>
          </p:nvSpPr>
          <p:spPr>
            <a:xfrm>
              <a:off x="6438900" y="2000250"/>
              <a:ext cx="47625" cy="5715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6653212" y="2116931"/>
              <a:ext cx="501134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完成率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5118" y="2352199"/>
              <a:ext cx="1155906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已完成+关闭 / 总数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4160" y="2594610"/>
              <a:ext cx="1576864" cy="8534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15.4%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60105" y="2902268"/>
              <a:ext cx="439341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14/91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3619500"/>
              <a:ext cx="533400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723900" y="3810000"/>
              <a:ext cx="47625" cy="5715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938212" y="3926681"/>
              <a:ext cx="816173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里程碑完成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0118" y="4161949"/>
              <a:ext cx="824365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已完成 / 总数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9160" y="4404360"/>
              <a:ext cx="1253423" cy="8534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9/12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54605" y="4712018"/>
              <a:ext cx="331327" cy="2743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75%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3619500"/>
              <a:ext cx="5334000" cy="1524000"/>
            </a:xfrm>
            <a:prstGeom prst="roundRect">
              <a:avLst>
                <a:gd name="adj" fmla="val 7500"/>
              </a:avLst>
            </a:prstGeom>
            <a:solidFill>
              <a:srgbClr val="FEF2F2"/>
            </a:solidFill>
            <a:ln w="9525">
              <a:solidFill>
                <a:srgbClr val="FECACA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6438900" y="3810000"/>
              <a:ext cx="47625" cy="5715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6653212" y="3926681"/>
              <a:ext cx="658654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风险警告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5118" y="4161949"/>
              <a:ext cx="1194911" cy="19812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未开始任务比例过高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29400" y="4533900"/>
              <a:ext cx="1231344" cy="609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54.9%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71510" y="4632960"/>
              <a:ext cx="1166622" cy="24384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50个任务未启动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667500" y="5000625"/>
              <a:ext cx="3810000" cy="76200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6667500" y="5000625"/>
              <a:ext cx="2095500" cy="762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</p:grpSp>
      <p:sp>
        <p:nvSpPr>
          <p:cNvPr id="35" name="Rectangle 35"/>
          <p:cNvSpPr/>
          <p:nvPr/>
        </p:nvSpPr>
        <p:spPr>
          <a:xfrm>
            <a:off x="571500" y="55245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EBF0F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325216" y="5756910"/>
            <a:ext cx="55415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当前节点: P4立项评审 → P5功能样机阶段 | 进行中任务: 3个 | 待处理: 3个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60070" y="6665595"/>
            <a:ext cx="29632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数据来源: PingCode ZNY 项目 | 更新时间: 2026-05-28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3B82F6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4830" y="2495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里程碑进展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212" y="62150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12个里程碑 · 9已完成 · 1进行中 · 2未开始 · 完成率 75%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93591" y="3709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P03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952500"/>
            <a:ext cx="110490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952500"/>
            <a:ext cx="8286750" cy="952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624613" y="836295"/>
            <a:ext cx="9427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75% 完成 (9/12)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238250"/>
            <a:ext cx="11049000" cy="333375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9618" y="1352074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里程碑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07118" y="13520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名称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5618" y="13520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截止日期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36368" y="1352074"/>
            <a:ext cx="2977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状态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571500" y="1666875"/>
            <a:ext cx="11049000" cy="4248150"/>
            <a:chOff x="571500" y="1666875"/>
            <a:chExt cx="11049000" cy="4248150"/>
          </a:xfrm>
        </p:grpSpPr>
        <p:sp>
          <p:nvSpPr>
            <p:cNvPr id="15" name="Rectangle 15"/>
            <p:cNvSpPr/>
            <p:nvPr/>
          </p:nvSpPr>
          <p:spPr>
            <a:xfrm>
              <a:off x="571500" y="1666875"/>
              <a:ext cx="11049000" cy="342900"/>
            </a:xfrm>
            <a:prstGeom prst="roundRect">
              <a:avLst>
                <a:gd name="adj" fmla="val 11111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33425" y="1762125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2392" y="179689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06165" y="17821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需求设计阶段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44665" y="1782128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-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048750" y="1733550"/>
              <a:ext cx="666750" cy="209550"/>
            </a:xfrm>
            <a:prstGeom prst="roundRect">
              <a:avLst>
                <a:gd name="adj" fmla="val 27273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81671" y="178879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2057400"/>
              <a:ext cx="11049000" cy="342900"/>
            </a:xfrm>
            <a:prstGeom prst="roundRect">
              <a:avLst>
                <a:gd name="adj" fmla="val 11111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33425" y="2152650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8640" y="2187416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06165" y="2172652"/>
              <a:ext cx="7057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ID设计阶段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44665" y="2172652"/>
              <a:ext cx="1036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-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048750" y="2124075"/>
              <a:ext cx="666750" cy="209550"/>
            </a:xfrm>
            <a:prstGeom prst="roundRect">
              <a:avLst>
                <a:gd name="adj" fmla="val 27273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81671" y="2179320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2447925"/>
              <a:ext cx="11049000" cy="342900"/>
            </a:xfrm>
            <a:prstGeom prst="roundRect">
              <a:avLst>
                <a:gd name="adj" fmla="val 11111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33425" y="2543175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8640" y="25779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06165" y="256317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概念设计阶段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44665" y="25631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2026-04-10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048750" y="2514600"/>
              <a:ext cx="666750" cy="209550"/>
            </a:xfrm>
            <a:prstGeom prst="roundRect">
              <a:avLst>
                <a:gd name="adj" fmla="val 27273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81671" y="25698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2838450"/>
              <a:ext cx="11049000" cy="342900"/>
            </a:xfrm>
            <a:prstGeom prst="roundRect">
              <a:avLst>
                <a:gd name="adj" fmla="val 11111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33425" y="2933700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8640" y="2968466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06165" y="29537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立项评审阶段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44665" y="2953702"/>
              <a:ext cx="7967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2026-04-24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048750" y="2905125"/>
              <a:ext cx="666750" cy="209550"/>
            </a:xfrm>
            <a:prstGeom prst="roundRect">
              <a:avLst>
                <a:gd name="adj" fmla="val 27273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81671" y="2960370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" y="3228975"/>
              <a:ext cx="11049000" cy="342900"/>
            </a:xfrm>
            <a:prstGeom prst="roundRect">
              <a:avLst>
                <a:gd name="adj" fmla="val 11111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33425" y="3324225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8640" y="33589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06165" y="33442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功能样机阶段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44665" y="33442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2026-05-01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048750" y="3295650"/>
              <a:ext cx="666750" cy="209550"/>
            </a:xfrm>
            <a:prstGeom prst="roundRect">
              <a:avLst>
                <a:gd name="adj" fmla="val 27273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81671" y="335089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3619500"/>
              <a:ext cx="11049000" cy="342900"/>
            </a:xfrm>
            <a:prstGeom prst="roundRect">
              <a:avLst>
                <a:gd name="adj" fmla="val 11111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33425" y="3714750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8640" y="3749516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606165" y="37347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工作样机阶段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44665" y="3734752"/>
              <a:ext cx="7967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2026-05-08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048750" y="3686175"/>
              <a:ext cx="666750" cy="209550"/>
            </a:xfrm>
            <a:prstGeom prst="roundRect">
              <a:avLst>
                <a:gd name="adj" fmla="val 27273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81671" y="3741420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71500" y="4010025"/>
              <a:ext cx="11049000" cy="342900"/>
            </a:xfrm>
            <a:prstGeom prst="roundRect">
              <a:avLst>
                <a:gd name="adj" fmla="val 11111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733425" y="4105275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8640" y="41400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606165" y="4125278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小批量试产阶段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44665" y="41252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2026-05-15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048750" y="4076700"/>
              <a:ext cx="666750" cy="209550"/>
            </a:xfrm>
            <a:prstGeom prst="roundRect">
              <a:avLst>
                <a:gd name="adj" fmla="val 27273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81671" y="41319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71500" y="4400550"/>
              <a:ext cx="11049000" cy="342900"/>
            </a:xfrm>
            <a:prstGeom prst="roundRect">
              <a:avLst>
                <a:gd name="adj" fmla="val 11111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733425" y="4495800"/>
              <a:ext cx="152400" cy="152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8640" y="4530566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606165" y="45158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导入量产阶段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44665" y="45158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2026-05-15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048750" y="4467225"/>
              <a:ext cx="666750" cy="209550"/>
            </a:xfrm>
            <a:prstGeom prst="roundRect">
              <a:avLst>
                <a:gd name="adj" fmla="val 27273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181671" y="4522470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71500" y="4791075"/>
              <a:ext cx="11049000" cy="342900"/>
            </a:xfrm>
            <a:prstGeom prst="roundRect">
              <a:avLst>
                <a:gd name="adj" fmla="val 11111"/>
              </a:avLst>
            </a:prstGeom>
            <a:solidFill>
              <a:srgbClr val="FEF9E7"/>
            </a:solidFill>
            <a:ln w="9525">
              <a:solidFill>
                <a:srgbClr val="FCD34D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33425" y="4886325"/>
              <a:ext cx="152400" cy="152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38640" y="49210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606165" y="49063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新品上市阶段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44665" y="4906328"/>
              <a:ext cx="7967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2026-05-22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048750" y="4857750"/>
              <a:ext cx="666750" cy="209550"/>
            </a:xfrm>
            <a:prstGeom prst="roundRect">
              <a:avLst>
                <a:gd name="adj" fmla="val 2727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181671" y="491299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进行中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71500" y="5181600"/>
              <a:ext cx="11049000" cy="342900"/>
            </a:xfrm>
            <a:prstGeom prst="roundRect">
              <a:avLst>
                <a:gd name="adj" fmla="val 11111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733425" y="5276850"/>
              <a:ext cx="152400" cy="1524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22138" y="5311616"/>
              <a:ext cx="1749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P10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606165" y="52968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上市复盘阶段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844665" y="5296852"/>
              <a:ext cx="7967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2026-05-29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048750" y="5248275"/>
              <a:ext cx="666750" cy="209550"/>
            </a:xfrm>
            <a:prstGeom prst="roundRect">
              <a:avLst>
                <a:gd name="adj" fmla="val 2727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181671" y="5303520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未开始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71500" y="5572125"/>
              <a:ext cx="11049000" cy="342900"/>
            </a:xfrm>
            <a:prstGeom prst="roundRect">
              <a:avLst>
                <a:gd name="adj" fmla="val 11111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733425" y="5667375"/>
              <a:ext cx="152400" cy="1524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35890" y="5702141"/>
              <a:ext cx="1474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P11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606165" y="5687378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EOL阶段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844665" y="5687378"/>
              <a:ext cx="7967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2026-06-30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048750" y="5638800"/>
              <a:ext cx="666750" cy="209550"/>
            </a:xfrm>
            <a:prstGeom prst="roundRect">
              <a:avLst>
                <a:gd name="adj" fmla="val 27273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181671" y="56940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未开始</a:t>
              </a:r>
            </a:p>
          </p:txBody>
        </p:sp>
      </p:grpSp>
      <p:sp>
        <p:nvSpPr>
          <p:cNvPr id="93" name="Rectangle 93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grpSp>
        <p:nvGrpSpPr>
          <p:cNvPr id="100" name="Group 100"/>
          <p:cNvGrpSpPr/>
          <p:nvPr/>
        </p:nvGrpSpPr>
        <p:grpSpPr>
          <a:xfrm>
            <a:off x="571500" y="6334125"/>
            <a:ext cx="2568988" cy="200025"/>
            <a:chOff x="571500" y="6334125"/>
            <a:chExt cx="2568988" cy="200025"/>
          </a:xfrm>
        </p:grpSpPr>
        <p:sp>
          <p:nvSpPr>
            <p:cNvPr id="94" name="Rectangle 94"/>
            <p:cNvSpPr/>
            <p:nvPr/>
          </p:nvSpPr>
          <p:spPr>
            <a:xfrm>
              <a:off x="571500" y="6334125"/>
              <a:ext cx="133350" cy="133350"/>
            </a:xfrm>
            <a:prstGeom prst="roundRect">
              <a:avLst>
                <a:gd name="adj" fmla="val 14286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50570" y="6351270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已完成 8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1524000" y="6334125"/>
              <a:ext cx="133350" cy="133350"/>
            </a:xfrm>
            <a:prstGeom prst="roundRect">
              <a:avLst>
                <a:gd name="adj" fmla="val 14286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703070" y="6351270"/>
              <a:ext cx="4549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进行中 1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2476500" y="6334125"/>
              <a:ext cx="133350" cy="133350"/>
            </a:xfrm>
            <a:prstGeom prst="roundRect">
              <a:avLst>
                <a:gd name="adj" fmla="val 14286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2655570" y="6351270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未开始 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3B82F6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4830" y="249555"/>
            <a:ext cx="21115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工作项状态分析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212" y="621506"/>
            <a:ext cx="17987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91个工作项 · 完成率 15.4%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93591" y="3709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P04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00125"/>
            <a:ext cx="66675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9525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8" name="Rectangle 8"/>
          <p:cNvSpPr/>
          <p:nvPr/>
        </p:nvSpPr>
        <p:spPr>
          <a:xfrm>
            <a:off x="571500" y="1000125"/>
            <a:ext cx="6667500" cy="47625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38200" y="121920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状态分布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762000" y="1571625"/>
            <a:ext cx="6286500" cy="1905000"/>
            <a:chOff x="762000" y="1571625"/>
            <a:chExt cx="62865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571625"/>
              <a:ext cx="6286500" cy="342900"/>
            </a:xfrm>
            <a:prstGeom prst="roundRect">
              <a:avLst>
                <a:gd name="adj" fmla="val 11111"/>
              </a:avLst>
            </a:prstGeom>
            <a:solidFill>
              <a:srgbClr val="FEF2F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9165" y="168687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未开始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20665" y="1686878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50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92165" y="1686878"/>
              <a:ext cx="4117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54.9%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52500" y="1857375"/>
              <a:ext cx="4286250" cy="38100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52500" y="1857375"/>
              <a:ext cx="2352675" cy="381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1962150"/>
              <a:ext cx="6286500" cy="342900"/>
            </a:xfrm>
            <a:prstGeom prst="roundRect">
              <a:avLst>
                <a:gd name="adj" fmla="val 11111"/>
              </a:avLst>
            </a:prstGeom>
            <a:solidFill>
              <a:srgbClr val="F0FD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165" y="207740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20665" y="2077402"/>
              <a:ext cx="151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2165" y="2077402"/>
              <a:ext cx="376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14.3%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2500" y="2247900"/>
              <a:ext cx="4286250" cy="38100"/>
            </a:xfrm>
            <a:prstGeom prst="roundRect">
              <a:avLst>
                <a:gd name="adj" fmla="val 50000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52500" y="22479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2352675"/>
              <a:ext cx="6286500" cy="342900"/>
            </a:xfrm>
            <a:prstGeom prst="roundRect">
              <a:avLst>
                <a:gd name="adj" fmla="val 11111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165" y="24679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评审准备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20665" y="2467928"/>
              <a:ext cx="151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92165" y="2467928"/>
              <a:ext cx="376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13.2%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52500" y="2638425"/>
              <a:ext cx="4286250" cy="38100"/>
            </a:xfrm>
            <a:prstGeom prst="roundRect">
              <a:avLst>
                <a:gd name="adj" fmla="val 50000"/>
              </a:avLst>
            </a:prstGeom>
            <a:solidFill>
              <a:srgbClr val="F3E8F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52500" y="2638425"/>
              <a:ext cx="561975" cy="381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2743200"/>
              <a:ext cx="6286500" cy="342900"/>
            </a:xfrm>
            <a:prstGeom prst="roundRect">
              <a:avLst>
                <a:gd name="adj" fmla="val 11111"/>
              </a:avLst>
            </a:prstGeom>
            <a:solidFill>
              <a:srgbClr val="FEF9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9165" y="285845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进行中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0665" y="2858452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92165" y="2858452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3.3%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52500" y="3028950"/>
              <a:ext cx="4286250" cy="3810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52500" y="3028950"/>
              <a:ext cx="142875" cy="38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3133725"/>
              <a:ext cx="6286500" cy="342900"/>
            </a:xfrm>
            <a:prstGeom prst="roundRect">
              <a:avLst>
                <a:gd name="adj" fmla="val 11111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9165" y="3248978"/>
              <a:ext cx="43252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其他状态 (发起变更/提交问题/待处理/关闭/评审中/打开/不予解决)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20665" y="3248978"/>
              <a:ext cx="151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92165" y="3248978"/>
              <a:ext cx="376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14.3%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7429500" y="1000125"/>
            <a:ext cx="4191000" cy="32385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9525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40" name="Rectangle 40"/>
          <p:cNvSpPr/>
          <p:nvPr/>
        </p:nvSpPr>
        <p:spPr>
          <a:xfrm>
            <a:off x="7429500" y="1000125"/>
            <a:ext cx="4191000" cy="47625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696200" y="1219200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类型分布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7715250" y="1619250"/>
            <a:ext cx="3619500" cy="2571750"/>
            <a:chOff x="7715250" y="1619250"/>
            <a:chExt cx="3619500" cy="2571750"/>
          </a:xfrm>
        </p:grpSpPr>
        <p:sp>
          <p:nvSpPr>
            <p:cNvPr id="42" name="Rectangle 42"/>
            <p:cNvSpPr/>
            <p:nvPr/>
          </p:nvSpPr>
          <p:spPr>
            <a:xfrm>
              <a:off x="7715250" y="1619250"/>
              <a:ext cx="3619500" cy="381000"/>
            </a:xfrm>
            <a:prstGeom prst="roundRect">
              <a:avLst>
                <a:gd name="adj" fmla="val 15000"/>
              </a:avLst>
            </a:prstGeom>
            <a:solidFill>
              <a:srgbClr val="EBF0FD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92415" y="174402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任务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83445" y="1744028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43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905750" y="1952625"/>
              <a:ext cx="2952750" cy="381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905750" y="1952625"/>
              <a:ext cx="295275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715250" y="2095500"/>
              <a:ext cx="3619500" cy="381000"/>
            </a:xfrm>
            <a:prstGeom prst="roundRect">
              <a:avLst>
                <a:gd name="adj" fmla="val 15000"/>
              </a:avLst>
            </a:prstGeom>
            <a:solidFill>
              <a:srgbClr val="EDE9F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92415" y="222027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里程碑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720199" y="2220278"/>
              <a:ext cx="151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905750" y="2428875"/>
              <a:ext cx="2952750" cy="38100"/>
            </a:xfrm>
            <a:prstGeom prst="roundRect">
              <a:avLst>
                <a:gd name="adj" fmla="val 50000"/>
              </a:avLst>
            </a:prstGeom>
            <a:solidFill>
              <a:srgbClr val="DDD6FE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05750" y="2428875"/>
              <a:ext cx="828675" cy="381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715250" y="2571750"/>
              <a:ext cx="3619500" cy="381000"/>
            </a:xfrm>
            <a:prstGeom prst="roundRect">
              <a:avLst>
                <a:gd name="adj" fmla="val 15000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92415" y="269652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需求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756954" y="2696528"/>
              <a:ext cx="1148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905750" y="2905125"/>
              <a:ext cx="2952750" cy="38100"/>
            </a:xfrm>
            <a:prstGeom prst="roundRect">
              <a:avLst>
                <a:gd name="adj" fmla="val 50000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905750" y="2905125"/>
              <a:ext cx="752475" cy="381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715250" y="3048000"/>
              <a:ext cx="3619500" cy="381000"/>
            </a:xfrm>
            <a:prstGeom prst="roundRect">
              <a:avLst>
                <a:gd name="adj" fmla="val 15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92415" y="31727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问题管理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764305" y="3172778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715250" y="3429000"/>
              <a:ext cx="3619500" cy="381000"/>
            </a:xfrm>
            <a:prstGeom prst="roundRect">
              <a:avLst>
                <a:gd name="adj" fmla="val 15000"/>
              </a:avLst>
            </a:prstGeom>
            <a:solidFill>
              <a:srgbClr val="FEF2F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892415" y="35537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风险管理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764305" y="3553778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715250" y="3810000"/>
              <a:ext cx="3619500" cy="381000"/>
            </a:xfrm>
            <a:prstGeom prst="roundRect">
              <a:avLst>
                <a:gd name="adj" fmla="val 15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892415" y="3934778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其他自定义类型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720199" y="3934778"/>
              <a:ext cx="151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18</a:t>
              </a:r>
            </a:p>
          </p:txBody>
        </p:sp>
      </p:grpSp>
      <p:sp>
        <p:nvSpPr>
          <p:cNvPr id="67" name="Rectangle 67"/>
          <p:cNvSpPr/>
          <p:nvPr/>
        </p:nvSpPr>
        <p:spPr>
          <a:xfrm>
            <a:off x="571500" y="4476750"/>
            <a:ext cx="11049000" cy="9525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935355" y="4712018"/>
            <a:ext cx="951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⚠ 风险预警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38212" y="5022056"/>
            <a:ext cx="58418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50个工作项（54.9%）处于"未开始"状态，大量硬件开发任务（P5-P11阶段）尚未启动。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38212" y="5231606"/>
            <a:ext cx="40790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随着项目推进，任务集中爆发可能导致资源瓶颈和进度延期。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810250"/>
            <a:ext cx="53340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9525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72" name="TextBox 72"/>
          <p:cNvSpPr txBox="1"/>
          <p:nvPr/>
        </p:nvSpPr>
        <p:spPr>
          <a:xfrm>
            <a:off x="842962" y="602218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当前重点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43915" y="6268402"/>
            <a:ext cx="33170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P4立项评审收尾 → P5功能样机启动 · 跟进评审准备项</a:t>
            </a:r>
          </a:p>
        </p:txBody>
      </p:sp>
      <p:sp>
        <p:nvSpPr>
          <p:cNvPr id="74" name="Rectangle 74"/>
          <p:cNvSpPr/>
          <p:nvPr/>
        </p:nvSpPr>
        <p:spPr>
          <a:xfrm>
            <a:off x="6286500" y="5810250"/>
            <a:ext cx="53340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9525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75" name="TextBox 75"/>
          <p:cNvSpPr txBox="1"/>
          <p:nvPr/>
        </p:nvSpPr>
        <p:spPr>
          <a:xfrm>
            <a:off x="6557962" y="602218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建议措施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558915" y="6268402"/>
            <a:ext cx="34711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加速P5-P8任务启动 · 资源提前规划 · 每周进度 Review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3B82F6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4830" y="2495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风险与问题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212" y="621506"/>
            <a:ext cx="28264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3项风险 · 4项问题 · 3项变更 · 3项待处理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93591" y="370999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P05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1047750"/>
            <a:ext cx="11049000" cy="2476500"/>
            <a:chOff x="571500" y="1047750"/>
            <a:chExt cx="11049000" cy="2476500"/>
          </a:xfrm>
          <a:effectLst>
            <a:outerShdw blurRad="57150" dist="9525" dir="5400000" algn="ctr" rotWithShape="0">
              <a:srgbClr val="0F172A">
                <a:alpha val="3750"/>
              </a:srgbClr>
            </a:outerShdw>
          </a:effectLst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3619500" cy="24765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571500" y="1047750"/>
              <a:ext cx="3619500" cy="47625"/>
            </a:xfrm>
            <a:prstGeom prst="roundRect">
              <a:avLst>
                <a:gd name="adj" fmla="val 40000"/>
              </a:avLst>
            </a:prstGeom>
            <a:solidFill>
              <a:srgbClr val="EF4444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723900" y="123825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EF2F2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826332" y="1299210"/>
              <a:ext cx="80886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7760" y="1318260"/>
              <a:ext cx="1038606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任务积压风险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1666875"/>
              <a:ext cx="3238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748665" y="1791652"/>
              <a:ext cx="1601867" cy="2133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50个未开始任务 (54.9%)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2029778"/>
              <a:ext cx="1258824" cy="2133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P5-P11阶段集中积压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3812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762000" y="2381250"/>
              <a:ext cx="2428875" cy="5715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750570" y="2550795"/>
              <a:ext cx="760052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严重程度: 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2857500"/>
              <a:ext cx="3238500" cy="428625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940118" y="3018949"/>
              <a:ext cx="1838492" cy="19812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建议: 提前启动P5功能样机任务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286250" y="1047750"/>
              <a:ext cx="3619500" cy="24765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4286250" y="1047750"/>
              <a:ext cx="3619500" cy="47625"/>
            </a:xfrm>
            <a:prstGeom prst="roundRect">
              <a:avLst>
                <a:gd name="adj" fmla="val 40000"/>
              </a:avLst>
            </a:prstGeom>
            <a:solidFill>
              <a:srgbClr val="F59E0B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438650" y="123825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EF9E7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520079" y="1299210"/>
              <a:ext cx="122892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42510" y="1318260"/>
              <a:ext cx="1374648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里程碑与任务脱节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476750" y="1666875"/>
              <a:ext cx="3238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4463415" y="1791652"/>
              <a:ext cx="1594866" cy="2133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P4里程碑已完成，但P4下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63415" y="2029778"/>
              <a:ext cx="1440847" cy="2133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多个任务仍为"未开始"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76750" y="23812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4476750" y="2381250"/>
              <a:ext cx="1619250" cy="571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0" name="TextBox 30"/>
            <p:cNvSpPr txBox="1"/>
            <p:nvPr/>
          </p:nvSpPr>
          <p:spPr>
            <a:xfrm>
              <a:off x="4465320" y="2550795"/>
              <a:ext cx="760052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严重程度: 中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2857500"/>
              <a:ext cx="3238500" cy="428625"/>
            </a:xfrm>
            <a:prstGeom prst="roundRect">
              <a:avLst>
                <a:gd name="adj" fmla="val 13333"/>
              </a:avLst>
            </a:prstGeom>
            <a:solidFill>
              <a:srgbClr val="FEF9E7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4654868" y="3018949"/>
              <a:ext cx="1968508" cy="19812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建议: 核查P4里程碑与任务一致性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001000" y="1047750"/>
              <a:ext cx="3619500" cy="24765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4" name="Rectangle 34"/>
            <p:cNvSpPr/>
            <p:nvPr/>
          </p:nvSpPr>
          <p:spPr>
            <a:xfrm>
              <a:off x="8001000" y="1047750"/>
              <a:ext cx="3619500" cy="47625"/>
            </a:xfrm>
            <a:prstGeom prst="roundRect">
              <a:avLst>
                <a:gd name="adj" fmla="val 40000"/>
              </a:avLst>
            </a:prstGeom>
            <a:solidFill>
              <a:srgbClr val="EF4444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5" name="Rectangle 35"/>
            <p:cNvSpPr/>
            <p:nvPr/>
          </p:nvSpPr>
          <p:spPr>
            <a:xfrm>
              <a:off x="8153400" y="123825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EF2F2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6" name="TextBox 36"/>
            <p:cNvSpPr txBox="1"/>
            <p:nvPr/>
          </p:nvSpPr>
          <p:spPr>
            <a:xfrm>
              <a:off x="8234829" y="1299210"/>
              <a:ext cx="122892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57260" y="1318260"/>
              <a:ext cx="1038606" cy="2438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硬件开发节奏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91500" y="1666875"/>
              <a:ext cx="3238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9" name="TextBox 39"/>
            <p:cNvSpPr txBox="1"/>
            <p:nvPr/>
          </p:nvSpPr>
          <p:spPr>
            <a:xfrm>
              <a:off x="8178165" y="1791652"/>
              <a:ext cx="1671876" cy="2133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P5-P8硬件任务全部未开始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78165" y="2029778"/>
              <a:ext cx="1657874" cy="2133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涉及结构/硬件/固件/包材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191500" y="23812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42" name="Rectangle 42"/>
            <p:cNvSpPr/>
            <p:nvPr/>
          </p:nvSpPr>
          <p:spPr>
            <a:xfrm>
              <a:off x="8191500" y="2381250"/>
              <a:ext cx="2428875" cy="5715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8180070" y="2550795"/>
              <a:ext cx="760052" cy="18288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严重程度: 高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0" y="2857500"/>
              <a:ext cx="3238500" cy="428625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45" name="TextBox 45"/>
            <p:cNvSpPr txBox="1"/>
            <p:nvPr/>
          </p:nvSpPr>
          <p:spPr>
            <a:xfrm>
              <a:off x="8369618" y="3018949"/>
              <a:ext cx="1695474" cy="198120"/>
            </a:xfrm>
            <a:prstGeom prst="rect">
              <a:avLst/>
            </a:prstGeom>
            <a:noFill/>
            <a:ln>
              <a:noFill/>
            </a:ln>
            <a:effectLst>
              <a:outerShdw blurRad="57150" dist="9525" dir="5400000" algn="ctr" rotWithShape="0">
                <a:srgbClr val="0F172A">
                  <a:alpha val="3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建议: 建立硬件开发专项跟踪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571500" y="3810000"/>
            <a:ext cx="361950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9525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48" name="Rectangle 48"/>
          <p:cNvSpPr/>
          <p:nvPr/>
        </p:nvSpPr>
        <p:spPr>
          <a:xfrm>
            <a:off x="571500" y="3810000"/>
            <a:ext cx="3619500" cy="47625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0105" y="4045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问题管理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2962" y="4402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已提交问题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5340" y="4501515"/>
            <a:ext cx="33795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54480" y="4712018"/>
            <a:ext cx="2143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个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4868" y="5038249"/>
            <a:ext cx="1448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提交问题: 3 · 待处理: 3</a:t>
            </a:r>
          </a:p>
        </p:txBody>
      </p:sp>
      <p:sp>
        <p:nvSpPr>
          <p:cNvPr id="54" name="Rectangle 54"/>
          <p:cNvSpPr/>
          <p:nvPr/>
        </p:nvSpPr>
        <p:spPr>
          <a:xfrm>
            <a:off x="4286250" y="3810000"/>
            <a:ext cx="361950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9525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55" name="Rectangle 55"/>
          <p:cNvSpPr/>
          <p:nvPr/>
        </p:nvSpPr>
        <p:spPr>
          <a:xfrm>
            <a:off x="4286250" y="3810000"/>
            <a:ext cx="3619500" cy="47625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4554855" y="4045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变更管理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557712" y="440293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发起变更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530090" y="4501515"/>
            <a:ext cx="33795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269230" y="4712018"/>
            <a:ext cx="2143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个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559618" y="50382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评审中: 1 · 评审准备: 12</a:t>
            </a:r>
          </a:p>
        </p:txBody>
      </p:sp>
      <p:sp>
        <p:nvSpPr>
          <p:cNvPr id="61" name="Rectangle 61"/>
          <p:cNvSpPr/>
          <p:nvPr/>
        </p:nvSpPr>
        <p:spPr>
          <a:xfrm>
            <a:off x="8001000" y="3810000"/>
            <a:ext cx="361950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7150" dist="9525" dir="5400000" algn="ctr" rotWithShape="0">
              <a:srgbClr val="0F172A">
                <a:alpha val="3750"/>
              </a:srgbClr>
            </a:outerShdw>
          </a:effectLst>
        </p:spPr>
      </p:sp>
      <p:sp>
        <p:nvSpPr>
          <p:cNvPr id="62" name="Rectangle 62"/>
          <p:cNvSpPr/>
          <p:nvPr/>
        </p:nvSpPr>
        <p:spPr>
          <a:xfrm>
            <a:off x="8001000" y="3810000"/>
            <a:ext cx="3619500" cy="47625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269605" y="404526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进行中任务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272462" y="4402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活跃工作项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244840" y="4501515"/>
            <a:ext cx="33795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983980" y="4712018"/>
            <a:ext cx="2143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个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274368" y="5038249"/>
            <a:ext cx="19425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P2.3 ID详细设计 · P4.1 项目启动</a:t>
            </a:r>
          </a:p>
        </p:txBody>
      </p:sp>
      <p:sp>
        <p:nvSpPr>
          <p:cNvPr id="68" name="Rectangle 68"/>
          <p:cNvSpPr/>
          <p:nvPr/>
        </p:nvSpPr>
        <p:spPr>
          <a:xfrm>
            <a:off x="571500" y="561975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EBF0FD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938212" y="5860256"/>
            <a:ext cx="73532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总体评估: 项目里程碑节奏正常（75%完成），但子任务执行存在滞后，建议加强任务级跟踪和资源协调。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60070" y="6665595"/>
            <a:ext cx="4037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风险管理: 3项 | 问题管理: 4项 | 变更: 3项 | 建议: 每周 Review + 专项跟踪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5F"/>
              </a:gs>
              <a:gs pos="50000">
                <a:srgbClr val="2563EB"/>
              </a:gs>
              <a:gs pos="100000">
                <a:srgbClr val="3B82F6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6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57394" y="69342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后续行动计划</a:t>
            </a:r>
          </a:p>
        </p:txBody>
      </p:sp>
      <p:sp>
        <p:nvSpPr>
          <p:cNvPr id="5" name="Rectangle 5"/>
          <p:cNvSpPr/>
          <p:nvPr/>
        </p:nvSpPr>
        <p:spPr>
          <a:xfrm>
            <a:off x="4762500" y="1143000"/>
            <a:ext cx="2667000" cy="19050"/>
          </a:xfrm>
          <a:prstGeom prst="roundRect">
            <a:avLst>
              <a:gd name="adj" fmla="val 50000"/>
            </a:avLst>
          </a:prstGeom>
          <a:solidFill>
            <a:srgbClr val="60A5FA">
              <a:alpha val="40000"/>
            </a:srgbClr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1143000" y="1476375"/>
            <a:ext cx="9906000" cy="1238250"/>
            <a:chOff x="1143000" y="1476375"/>
            <a:chExt cx="9906000" cy="1238250"/>
          </a:xfrm>
        </p:grpSpPr>
        <p:sp>
          <p:nvSpPr>
            <p:cNvPr id="6" name="Rectangle 6"/>
            <p:cNvSpPr/>
            <p:nvPr/>
          </p:nvSpPr>
          <p:spPr>
            <a:xfrm>
              <a:off x="1143000" y="1476375"/>
              <a:ext cx="3048000" cy="1238250"/>
            </a:xfrm>
            <a:prstGeom prst="roundRect">
              <a:avLst>
                <a:gd name="adj" fmla="val 7692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23975" y="1704975"/>
              <a:ext cx="304800" cy="3048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40987" y="1801178"/>
              <a:ext cx="70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46885" y="1727835"/>
              <a:ext cx="12234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P4立项评审收尾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8742" y="2037874"/>
              <a:ext cx="1207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FDBFE"/>
                  </a:solidFill>
                  <a:latin typeface="Arial"/>
                  <a:ea typeface="Microsoft YaHei"/>
                  <a:cs typeface="Arial"/>
                </a:rPr>
                <a:t>完成P4下未开始任务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742" y="22569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FDBFE"/>
                  </a:solidFill>
                  <a:latin typeface="Arial"/>
                  <a:ea typeface="Microsoft YaHei"/>
                  <a:cs typeface="Arial"/>
                </a:rPr>
                <a:t>推进评审准备工作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68742" y="24664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FDBFE"/>
                  </a:solidFill>
                  <a:latin typeface="Arial"/>
                  <a:ea typeface="Microsoft YaHei"/>
                  <a:cs typeface="Arial"/>
                </a:rPr>
                <a:t>输出初版产品规格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572000" y="1476375"/>
              <a:ext cx="3048000" cy="1238250"/>
            </a:xfrm>
            <a:prstGeom prst="roundRect">
              <a:avLst>
                <a:gd name="adj" fmla="val 7692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752975" y="1704975"/>
              <a:ext cx="304800" cy="3048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851610" y="1801178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75885" y="1727835"/>
              <a:ext cx="12234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启动P5功能样机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97742" y="2037874"/>
              <a:ext cx="1207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FDBFE"/>
                  </a:solidFill>
                  <a:latin typeface="Arial"/>
                  <a:ea typeface="Microsoft YaHei"/>
                  <a:cs typeface="Arial"/>
                </a:rPr>
                <a:t>结构/硬件/固件设计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97742" y="22569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FDBFE"/>
                  </a:solidFill>
                  <a:latin typeface="Arial"/>
                  <a:ea typeface="Microsoft YaHei"/>
                  <a:cs typeface="Arial"/>
                </a:rPr>
                <a:t>编写功能样机测试用例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97742" y="24664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FDBFE"/>
                  </a:solidFill>
                  <a:latin typeface="Arial"/>
                  <a:ea typeface="Microsoft YaHei"/>
                  <a:cs typeface="Arial"/>
                </a:rPr>
                <a:t>品质风险评估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01000" y="1476375"/>
              <a:ext cx="3048000" cy="1238250"/>
            </a:xfrm>
            <a:prstGeom prst="roundRect">
              <a:avLst>
                <a:gd name="adj" fmla="val 7692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181975" y="1704975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80610" y="1801178"/>
              <a:ext cx="107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04885" y="1727835"/>
              <a:ext cx="12234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P9新品上市推进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26742" y="2037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FDBFE"/>
                  </a:solidFill>
                  <a:latin typeface="Arial"/>
                  <a:ea typeface="Microsoft YaHei"/>
                  <a:cs typeface="Arial"/>
                </a:rPr>
                <a:t>唯一进行中里程碑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6742" y="22569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FDBFE"/>
                  </a:solidFill>
                  <a:latin typeface="Arial"/>
                  <a:ea typeface="Microsoft YaHei"/>
                  <a:cs typeface="Arial"/>
                </a:rPr>
                <a:t>截止日期: 2026-05-22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6742" y="24664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FDBFE"/>
                  </a:solidFill>
                  <a:latin typeface="Arial"/>
                  <a:ea typeface="Microsoft YaHei"/>
                  <a:cs typeface="Arial"/>
                </a:rPr>
                <a:t>重点关注交付质量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1905000" y="3143250"/>
            <a:ext cx="8382000" cy="1238250"/>
          </a:xfrm>
          <a:prstGeom prst="roundRect">
            <a:avLst>
              <a:gd name="adj" fmla="val 923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656898" y="336232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BFDBFE"/>
                </a:solidFill>
                <a:latin typeface="Arial"/>
                <a:ea typeface="Microsoft YaHei"/>
                <a:cs typeface="Arial"/>
              </a:rPr>
              <a:t>核心建议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591401" y="3736181"/>
            <a:ext cx="50091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建立硬件开发专项跟踪机制 · 每周进度 Review · 提前识别 P5-P8 资源冲突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31469" y="4021931"/>
            <a:ext cx="39290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确保 P10（上市复盘）和 P11（EOL）前期准备不落后于计划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454586" y="4499610"/>
            <a:ext cx="128282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88711" y="5490210"/>
            <a:ext cx="8145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3C5FD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35947" y="6077902"/>
            <a:ext cx="35201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0A5FA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智能硬件项目管理 | ZNY | 项目管理员: 小冯 | 2026年5月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